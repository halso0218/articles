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8AF2F-138C-4613-BAE9-40F6527F3E50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A9A63-9C75-467A-A6AB-89FE96DB4D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50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A9A63-9C75-467A-A6AB-89FE96DB4DD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71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2F0FA-2FA6-6339-BED3-5DE35A93D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A40E34-4C12-2935-2620-B48109C6B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D8EC5F-DB36-4668-B8FD-7C014FC6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8468CA-7A86-04B0-FCBE-38E168F5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C715CF-2516-1971-2B7A-D434CFC5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937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2DD8C4-DE2B-AF91-EAC4-9DD8F44B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E9872D-7C0D-71F0-9782-A337B34D8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77316B-3876-56A4-C450-38336E48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9627DC-2C53-D802-9E5D-A4DE686E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637E68-A39F-0DA7-3966-11B2C4A0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256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3656B4-0F3A-EEDD-8ABF-8EC32114C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E73BC8-887B-DB5E-F240-D8687BD83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471BF8-E7E4-C185-1C3B-6098F9095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9D55F3-7D6C-F068-9664-BFD7D7D2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7DC16-10FA-1F50-8531-6B181332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36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AB036-C217-9F85-5A52-73A01D57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3D6824-518C-FC64-4435-06DBF74B4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9DF4DA-65B8-3277-9481-C2682B1B5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AD3E6B-BA3A-FA9B-579C-3C5EF397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47EEF6-B25C-AB32-DE8B-2ACCCBBD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F5A76D-09A9-9835-3D55-3373520B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44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8A4278-6AF9-E900-B786-A2B87CC5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AA6154-4894-C07F-7CDC-D86BD7C88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F562F2-68DF-1023-04F2-CE8BD3514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64FCA26-E3F3-0897-FD6A-83D32FD857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B16554-1B75-9311-858D-28FBEBB07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45DDCF-B278-D43F-BAA3-CFF1CCB2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6CB1296-A2BD-5ACC-3960-5E6E9AA1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2024B0-8925-2881-78D0-21F34DCA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30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3F7CBB-DD9D-EC63-5855-A72D647F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83B7CC-C73E-56A9-2CF9-ED29A80D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140809-62DD-5D7D-BFC2-43FB15BC3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5FEBB8-336B-3F22-3DB0-1BBC8715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45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1C57BC6-CC26-B340-55DD-93F35502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D7DD6B-433A-7D2A-6C83-3607582F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6830D-1B59-6523-CD28-BFB3ED8B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94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8C9BA-1149-FC37-99DD-E2BFAAFF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0F8172-ED1A-4460-E250-9A2B7FC2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30FDE5-C031-6640-3415-F1455929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87B46E-190C-1E0F-D9FB-C2021225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51B0A2-8C4A-38BC-D5B4-A7274C945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8D660A-C69C-DAB5-696D-590B944E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81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31C164-8E0F-370A-C576-43CB03FE7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100AF70-B289-73AF-CF2E-BA962084B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5458ED-B715-A719-F99D-DB48E9150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687AB8-BAD7-A224-4A2D-48CE1682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90190A-E37D-F77F-1C12-3FFBC0CF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AB9811-51F2-D9AF-F07D-45575A6D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25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A0DC2E-46A4-CBA3-5A4A-FF871C36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47C47E4-957A-281B-305C-1F740BAA3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EEC02C-B79B-846F-4E6A-BE998B94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9B5262-C32D-2C20-8D05-58D88EA7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A43DBE-66DE-9332-8D85-1B0201766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49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0A0816E-8438-A904-10E9-1653B7B0F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2C4D08F-846D-C952-5AFE-EAF5B80CA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8EF7B3-157E-7A14-6267-1DA3EE659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C65058-DBA5-3882-E4D4-AFACEF7F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8B7A4A-6868-8EF2-C4DF-E8A64585B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75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CD350C2-B33A-2D55-20D3-18D1716F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8E35E2-D041-3231-2B25-2FBBB2F38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C4A05-174F-447C-25F0-A10788F5D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7A787-B5DD-471C-86A2-F97024D55B6D}" type="datetimeFigureOut">
              <a:rPr kumimoji="1" lang="ja-JP" altLang="en-US" smtClean="0"/>
              <a:t>2025/11/5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DA4DE2-C01D-9CD4-62C7-A6C6D7C53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ED6C92-392E-F717-183B-1AE6557D0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486FA-FD31-477F-AB21-14815F4ED7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14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雲 11">
            <a:extLst>
              <a:ext uri="{FF2B5EF4-FFF2-40B4-BE49-F238E27FC236}">
                <a16:creationId xmlns:a16="http://schemas.microsoft.com/office/drawing/2014/main" id="{23AEDD02-E896-5BA0-39DC-5C68B5A17802}"/>
              </a:ext>
            </a:extLst>
          </p:cNvPr>
          <p:cNvSpPr/>
          <p:nvPr/>
        </p:nvSpPr>
        <p:spPr>
          <a:xfrm>
            <a:off x="7296056" y="2087308"/>
            <a:ext cx="4837688" cy="4683234"/>
          </a:xfrm>
          <a:prstGeom prst="cloud">
            <a:avLst/>
          </a:prstGeom>
          <a:solidFill>
            <a:schemeClr val="accent1">
              <a:alpha val="8000"/>
            </a:schemeClr>
          </a:solidFill>
          <a:ln>
            <a:solidFill>
              <a:schemeClr val="accent1">
                <a:shade val="15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A0DD1135-17A0-FC79-5367-7B00A7B35972}"/>
              </a:ext>
            </a:extLst>
          </p:cNvPr>
          <p:cNvSpPr/>
          <p:nvPr/>
        </p:nvSpPr>
        <p:spPr>
          <a:xfrm>
            <a:off x="312420" y="2088545"/>
            <a:ext cx="6873240" cy="4359922"/>
          </a:xfrm>
          <a:custGeom>
            <a:avLst/>
            <a:gdLst>
              <a:gd name="connsiteX0" fmla="*/ 0 w 6873240"/>
              <a:gd name="connsiteY0" fmla="*/ 0 h 4351984"/>
              <a:gd name="connsiteX1" fmla="*/ 6873240 w 6873240"/>
              <a:gd name="connsiteY1" fmla="*/ 0 h 4351984"/>
              <a:gd name="connsiteX2" fmla="*/ 6873240 w 6873240"/>
              <a:gd name="connsiteY2" fmla="*/ 4351984 h 4351984"/>
              <a:gd name="connsiteX3" fmla="*/ 0 w 6873240"/>
              <a:gd name="connsiteY3" fmla="*/ 4351984 h 4351984"/>
              <a:gd name="connsiteX4" fmla="*/ 0 w 6873240"/>
              <a:gd name="connsiteY4" fmla="*/ 0 h 4351984"/>
              <a:gd name="connsiteX0" fmla="*/ 0 w 6873240"/>
              <a:gd name="connsiteY0" fmla="*/ 7349 h 4359333"/>
              <a:gd name="connsiteX1" fmla="*/ 1260071 w 6873240"/>
              <a:gd name="connsiteY1" fmla="*/ 0 h 4359333"/>
              <a:gd name="connsiteX2" fmla="*/ 6873240 w 6873240"/>
              <a:gd name="connsiteY2" fmla="*/ 7349 h 4359333"/>
              <a:gd name="connsiteX3" fmla="*/ 6873240 w 6873240"/>
              <a:gd name="connsiteY3" fmla="*/ 4359333 h 4359333"/>
              <a:gd name="connsiteX4" fmla="*/ 0 w 6873240"/>
              <a:gd name="connsiteY4" fmla="*/ 4359333 h 4359333"/>
              <a:gd name="connsiteX5" fmla="*/ 0 w 6873240"/>
              <a:gd name="connsiteY5" fmla="*/ 7349 h 4359333"/>
              <a:gd name="connsiteX0" fmla="*/ 0 w 6873240"/>
              <a:gd name="connsiteY0" fmla="*/ 201312 h 4553296"/>
              <a:gd name="connsiteX1" fmla="*/ 117071 w 6873240"/>
              <a:gd name="connsiteY1" fmla="*/ 0 h 4553296"/>
              <a:gd name="connsiteX2" fmla="*/ 6873240 w 6873240"/>
              <a:gd name="connsiteY2" fmla="*/ 201312 h 4553296"/>
              <a:gd name="connsiteX3" fmla="*/ 6873240 w 6873240"/>
              <a:gd name="connsiteY3" fmla="*/ 4553296 h 4553296"/>
              <a:gd name="connsiteX4" fmla="*/ 0 w 6873240"/>
              <a:gd name="connsiteY4" fmla="*/ 4553296 h 4553296"/>
              <a:gd name="connsiteX5" fmla="*/ 0 w 6873240"/>
              <a:gd name="connsiteY5" fmla="*/ 201312 h 4553296"/>
              <a:gd name="connsiteX0" fmla="*/ 0 w 6873240"/>
              <a:gd name="connsiteY0" fmla="*/ 201312 h 4553296"/>
              <a:gd name="connsiteX1" fmla="*/ 117071 w 6873240"/>
              <a:gd name="connsiteY1" fmla="*/ 0 h 4553296"/>
              <a:gd name="connsiteX2" fmla="*/ 1689562 w 6873240"/>
              <a:gd name="connsiteY2" fmla="*/ 62346 h 4553296"/>
              <a:gd name="connsiteX3" fmla="*/ 6873240 w 6873240"/>
              <a:gd name="connsiteY3" fmla="*/ 201312 h 4553296"/>
              <a:gd name="connsiteX4" fmla="*/ 6873240 w 6873240"/>
              <a:gd name="connsiteY4" fmla="*/ 4553296 h 4553296"/>
              <a:gd name="connsiteX5" fmla="*/ 0 w 6873240"/>
              <a:gd name="connsiteY5" fmla="*/ 4553296 h 4553296"/>
              <a:gd name="connsiteX6" fmla="*/ 0 w 6873240"/>
              <a:gd name="connsiteY6" fmla="*/ 201312 h 4553296"/>
              <a:gd name="connsiteX0" fmla="*/ 0 w 6873240"/>
              <a:gd name="connsiteY0" fmla="*/ 222093 h 4574077"/>
              <a:gd name="connsiteX1" fmla="*/ 117071 w 6873240"/>
              <a:gd name="connsiteY1" fmla="*/ 20781 h 4574077"/>
              <a:gd name="connsiteX2" fmla="*/ 1675708 w 6873240"/>
              <a:gd name="connsiteY2" fmla="*/ 0 h 4574077"/>
              <a:gd name="connsiteX3" fmla="*/ 6873240 w 6873240"/>
              <a:gd name="connsiteY3" fmla="*/ 222093 h 4574077"/>
              <a:gd name="connsiteX4" fmla="*/ 6873240 w 6873240"/>
              <a:gd name="connsiteY4" fmla="*/ 4574077 h 4574077"/>
              <a:gd name="connsiteX5" fmla="*/ 0 w 6873240"/>
              <a:gd name="connsiteY5" fmla="*/ 4574077 h 4574077"/>
              <a:gd name="connsiteX6" fmla="*/ 0 w 6873240"/>
              <a:gd name="connsiteY6" fmla="*/ 222093 h 4574077"/>
              <a:gd name="connsiteX0" fmla="*/ 0 w 6873240"/>
              <a:gd name="connsiteY0" fmla="*/ 222093 h 4574077"/>
              <a:gd name="connsiteX1" fmla="*/ 117071 w 6873240"/>
              <a:gd name="connsiteY1" fmla="*/ 20781 h 4574077"/>
              <a:gd name="connsiteX2" fmla="*/ 1675708 w 6873240"/>
              <a:gd name="connsiteY2" fmla="*/ 0 h 4574077"/>
              <a:gd name="connsiteX3" fmla="*/ 2673235 w 6873240"/>
              <a:gd name="connsiteY3" fmla="*/ 41564 h 4574077"/>
              <a:gd name="connsiteX4" fmla="*/ 6873240 w 6873240"/>
              <a:gd name="connsiteY4" fmla="*/ 222093 h 4574077"/>
              <a:gd name="connsiteX5" fmla="*/ 6873240 w 6873240"/>
              <a:gd name="connsiteY5" fmla="*/ 4574077 h 4574077"/>
              <a:gd name="connsiteX6" fmla="*/ 0 w 6873240"/>
              <a:gd name="connsiteY6" fmla="*/ 4574077 h 4574077"/>
              <a:gd name="connsiteX7" fmla="*/ 0 w 6873240"/>
              <a:gd name="connsiteY7" fmla="*/ 222093 h 4574077"/>
              <a:gd name="connsiteX0" fmla="*/ 0 w 6873240"/>
              <a:gd name="connsiteY0" fmla="*/ 222093 h 4574077"/>
              <a:gd name="connsiteX1" fmla="*/ 117071 w 6873240"/>
              <a:gd name="connsiteY1" fmla="*/ 20781 h 4574077"/>
              <a:gd name="connsiteX2" fmla="*/ 1675708 w 6873240"/>
              <a:gd name="connsiteY2" fmla="*/ 0 h 4574077"/>
              <a:gd name="connsiteX3" fmla="*/ 1835035 w 6873240"/>
              <a:gd name="connsiteY3" fmla="*/ 214746 h 4574077"/>
              <a:gd name="connsiteX4" fmla="*/ 6873240 w 6873240"/>
              <a:gd name="connsiteY4" fmla="*/ 222093 h 4574077"/>
              <a:gd name="connsiteX5" fmla="*/ 6873240 w 6873240"/>
              <a:gd name="connsiteY5" fmla="*/ 4574077 h 4574077"/>
              <a:gd name="connsiteX6" fmla="*/ 0 w 6873240"/>
              <a:gd name="connsiteY6" fmla="*/ 4574077 h 4574077"/>
              <a:gd name="connsiteX7" fmla="*/ 0 w 6873240"/>
              <a:gd name="connsiteY7" fmla="*/ 222093 h 4574077"/>
              <a:gd name="connsiteX0" fmla="*/ 0 w 6873240"/>
              <a:gd name="connsiteY0" fmla="*/ 230436 h 4582420"/>
              <a:gd name="connsiteX1" fmla="*/ 123999 w 6873240"/>
              <a:gd name="connsiteY1" fmla="*/ 0 h 4582420"/>
              <a:gd name="connsiteX2" fmla="*/ 1675708 w 6873240"/>
              <a:gd name="connsiteY2" fmla="*/ 8343 h 4582420"/>
              <a:gd name="connsiteX3" fmla="*/ 1835035 w 6873240"/>
              <a:gd name="connsiteY3" fmla="*/ 223089 h 4582420"/>
              <a:gd name="connsiteX4" fmla="*/ 6873240 w 6873240"/>
              <a:gd name="connsiteY4" fmla="*/ 230436 h 4582420"/>
              <a:gd name="connsiteX5" fmla="*/ 6873240 w 6873240"/>
              <a:gd name="connsiteY5" fmla="*/ 4582420 h 4582420"/>
              <a:gd name="connsiteX6" fmla="*/ 0 w 6873240"/>
              <a:gd name="connsiteY6" fmla="*/ 4582420 h 4582420"/>
              <a:gd name="connsiteX7" fmla="*/ 0 w 6873240"/>
              <a:gd name="connsiteY7" fmla="*/ 230436 h 4582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73240" h="4582420">
                <a:moveTo>
                  <a:pt x="0" y="230436"/>
                </a:moveTo>
                <a:lnTo>
                  <a:pt x="123999" y="0"/>
                </a:lnTo>
                <a:lnTo>
                  <a:pt x="1675708" y="8343"/>
                </a:lnTo>
                <a:lnTo>
                  <a:pt x="1835035" y="223089"/>
                </a:lnTo>
                <a:lnTo>
                  <a:pt x="6873240" y="230436"/>
                </a:lnTo>
                <a:lnTo>
                  <a:pt x="6873240" y="4582420"/>
                </a:lnTo>
                <a:lnTo>
                  <a:pt x="0" y="4582420"/>
                </a:lnTo>
                <a:lnTo>
                  <a:pt x="0" y="230436"/>
                </a:lnTo>
                <a:close/>
              </a:path>
            </a:pathLst>
          </a:cu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磁気ディスク 18">
            <a:extLst>
              <a:ext uri="{FF2B5EF4-FFF2-40B4-BE49-F238E27FC236}">
                <a16:creationId xmlns:a16="http://schemas.microsoft.com/office/drawing/2014/main" id="{5B2E192A-E97D-FA72-2280-183EFBA1E79C}"/>
              </a:ext>
            </a:extLst>
          </p:cNvPr>
          <p:cNvSpPr/>
          <p:nvPr/>
        </p:nvSpPr>
        <p:spPr>
          <a:xfrm>
            <a:off x="400659" y="2481205"/>
            <a:ext cx="6655042" cy="3856353"/>
          </a:xfrm>
          <a:prstGeom prst="flowChartMagneticDisk">
            <a:avLst/>
          </a:prstGeom>
          <a:solidFill>
            <a:schemeClr val="accent1">
              <a:alpha val="6000"/>
            </a:schemeClr>
          </a:solidFill>
          <a:ln>
            <a:solidFill>
              <a:schemeClr val="accent1">
                <a:shade val="15000"/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ja-JP" altLang="en-US" sz="1000" dirty="0">
                <a:solidFill>
                  <a:schemeClr val="tx1"/>
                </a:solidFill>
              </a:rPr>
              <a:t>ローカルリポジトリローカル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r"/>
            <a:r>
              <a:rPr kumimoji="1" lang="ja-JP" altLang="en-US" sz="1000" dirty="0">
                <a:solidFill>
                  <a:schemeClr val="tx1"/>
                </a:solidFill>
              </a:rPr>
              <a:t>リポジトリ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98AA64-3215-3DFF-08F1-795505BD2C59}"/>
              </a:ext>
            </a:extLst>
          </p:cNvPr>
          <p:cNvSpPr txBox="1"/>
          <p:nvPr/>
        </p:nvSpPr>
        <p:spPr>
          <a:xfrm>
            <a:off x="216620" y="408697"/>
            <a:ext cx="34355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①初期設定：</a:t>
            </a:r>
            <a:r>
              <a:rPr lang="en-US" altLang="ja-JP" sz="1200" dirty="0"/>
              <a:t>git config --global </a:t>
            </a:r>
            <a:r>
              <a:rPr lang="en-US" altLang="ja-JP" sz="1200" i="1" dirty="0" err="1"/>
              <a:t>setting_name</a:t>
            </a:r>
            <a:endParaRPr lang="ja-JP" altLang="en-US" sz="1200" i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AF3C0E-AFF9-84D6-0EF1-9B497E9309F8}"/>
              </a:ext>
            </a:extLst>
          </p:cNvPr>
          <p:cNvSpPr txBox="1"/>
          <p:nvPr/>
        </p:nvSpPr>
        <p:spPr>
          <a:xfrm>
            <a:off x="3829433" y="437659"/>
            <a:ext cx="10807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*</a:t>
            </a:r>
            <a:r>
              <a:rPr lang="en-US" altLang="ja-JP" sz="1000" i="1" dirty="0" err="1"/>
              <a:t>s</a:t>
            </a:r>
            <a:r>
              <a:rPr kumimoji="1" lang="en-US" altLang="ja-JP" sz="1000" i="1" dirty="0" err="1"/>
              <a:t>etting_name</a:t>
            </a:r>
            <a:r>
              <a:rPr kumimoji="1" lang="en-US" altLang="ja-JP" sz="1000" i="1" dirty="0"/>
              <a:t> 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87B4F5-21A7-D8AA-7E27-A9E61DB0F432}"/>
              </a:ext>
            </a:extLst>
          </p:cNvPr>
          <p:cNvSpPr txBox="1"/>
          <p:nvPr/>
        </p:nvSpPr>
        <p:spPr>
          <a:xfrm>
            <a:off x="3934254" y="616128"/>
            <a:ext cx="30925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user.name [</a:t>
            </a:r>
            <a:r>
              <a:rPr lang="ja-JP" altLang="en-US" sz="1000" dirty="0"/>
              <a:t>公開してよい名前</a:t>
            </a:r>
            <a:r>
              <a:rPr lang="en-US" altLang="ja-JP" sz="1000" dirty="0"/>
              <a:t>(</a:t>
            </a:r>
            <a:r>
              <a:rPr lang="ja-JP" altLang="en-US" sz="1000" dirty="0"/>
              <a:t>ニックネームなど</a:t>
            </a:r>
            <a:r>
              <a:rPr lang="en-US" altLang="ja-JP" sz="1000" dirty="0"/>
              <a:t>)]</a:t>
            </a:r>
          </a:p>
          <a:p>
            <a:r>
              <a:rPr lang="en-US" altLang="ja-JP" sz="1000" dirty="0" err="1"/>
              <a:t>u</a:t>
            </a:r>
            <a:r>
              <a:rPr kumimoji="1" lang="en-US" altLang="ja-JP" sz="1000" dirty="0" err="1"/>
              <a:t>ser.email</a:t>
            </a:r>
            <a:r>
              <a:rPr kumimoji="1" lang="en-US" altLang="ja-JP" sz="1000" dirty="0"/>
              <a:t> [</a:t>
            </a:r>
            <a:r>
              <a:rPr kumimoji="1" lang="ja-JP" altLang="en-US" sz="1000" dirty="0"/>
              <a:t>公開してよい</a:t>
            </a:r>
            <a:r>
              <a:rPr lang="ja-JP" altLang="en-US" sz="1000" dirty="0"/>
              <a:t>メール</a:t>
            </a:r>
            <a:r>
              <a:rPr kumimoji="1" lang="ja-JP" altLang="en-US" sz="1000" dirty="0"/>
              <a:t>アドレス</a:t>
            </a:r>
            <a:r>
              <a:rPr kumimoji="1" lang="en-US" altLang="ja-JP" sz="1000" dirty="0"/>
              <a:t>]</a:t>
            </a:r>
            <a:endParaRPr lang="en-US" altLang="ja-JP" sz="1000" dirty="0"/>
          </a:p>
          <a:p>
            <a:r>
              <a:rPr lang="en-US" altLang="ja-JP" sz="1000" dirty="0" err="1"/>
              <a:t>c</a:t>
            </a:r>
            <a:r>
              <a:rPr kumimoji="1" lang="en-US" altLang="ja-JP" sz="1000" dirty="0" err="1"/>
              <a:t>ore.editor</a:t>
            </a:r>
            <a:r>
              <a:rPr lang="ja-JP" altLang="en-US" sz="1000" dirty="0"/>
              <a:t> </a:t>
            </a:r>
            <a:r>
              <a:rPr lang="en-US" altLang="ja-JP" sz="1000" dirty="0"/>
              <a:t>“code --wait” </a:t>
            </a:r>
            <a:r>
              <a:rPr lang="ja-JP" altLang="en-US" sz="1000" dirty="0"/>
              <a:t>←</a:t>
            </a:r>
            <a:r>
              <a:rPr lang="en-US" altLang="ja-JP" sz="1000" dirty="0" err="1"/>
              <a:t>VSCode</a:t>
            </a:r>
            <a:r>
              <a:rPr lang="ja-JP" altLang="en-US" sz="1000" dirty="0"/>
              <a:t>の場合</a:t>
            </a:r>
            <a:endParaRPr kumimoji="1" lang="en-US" altLang="ja-JP" sz="1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F5E099-0A93-5C1F-594A-64F426F71087}"/>
              </a:ext>
            </a:extLst>
          </p:cNvPr>
          <p:cNvSpPr txBox="1"/>
          <p:nvPr/>
        </p:nvSpPr>
        <p:spPr>
          <a:xfrm>
            <a:off x="216620" y="1084837"/>
            <a:ext cx="2675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/>
              <a:t>②ローカルリポジトリ作成</a:t>
            </a:r>
            <a:r>
              <a:rPr kumimoji="1" lang="ja-JP" altLang="en-US" sz="1200" dirty="0"/>
              <a:t>： </a:t>
            </a:r>
            <a:r>
              <a:rPr kumimoji="1" lang="en-US" altLang="ja-JP" sz="1200" dirty="0"/>
              <a:t>git </a:t>
            </a:r>
            <a:r>
              <a:rPr kumimoji="1" lang="en-US" altLang="ja-JP" sz="1200" dirty="0" err="1"/>
              <a:t>init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B84188-E03A-9BFA-890B-018083217541}"/>
              </a:ext>
            </a:extLst>
          </p:cNvPr>
          <p:cNvSpPr txBox="1"/>
          <p:nvPr/>
        </p:nvSpPr>
        <p:spPr>
          <a:xfrm>
            <a:off x="2042600" y="670306"/>
            <a:ext cx="1566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config --list</a:t>
            </a:r>
            <a:endParaRPr lang="en-US" altLang="ja-JP" sz="1000" i="1" dirty="0"/>
          </a:p>
          <a:p>
            <a:r>
              <a:rPr lang="en-US" altLang="ja-JP" sz="1000" dirty="0"/>
              <a:t>git config </a:t>
            </a:r>
            <a:r>
              <a:rPr lang="en-US" altLang="ja-JP" sz="1000" i="1" dirty="0" err="1"/>
              <a:t>setting_name</a:t>
            </a:r>
            <a:endParaRPr lang="en-US" altLang="ja-JP" sz="1000" i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A38549-DD9B-0808-E5C6-06B1083734AC}"/>
              </a:ext>
            </a:extLst>
          </p:cNvPr>
          <p:cNvSpPr txBox="1"/>
          <p:nvPr/>
        </p:nvSpPr>
        <p:spPr>
          <a:xfrm>
            <a:off x="1088493" y="685696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設定値の確認</a:t>
            </a:r>
            <a:endParaRPr kumimoji="1" lang="ja-JP" altLang="en-US" sz="100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E12B17B-6CE9-D0C6-C30B-2963B3605456}"/>
              </a:ext>
            </a:extLst>
          </p:cNvPr>
          <p:cNvSpPr/>
          <p:nvPr/>
        </p:nvSpPr>
        <p:spPr>
          <a:xfrm>
            <a:off x="468976" y="2774183"/>
            <a:ext cx="1274619" cy="2834007"/>
          </a:xfrm>
          <a:prstGeom prst="roundRect">
            <a:avLst>
              <a:gd name="adj" fmla="val 6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050"/>
          </a:p>
        </p:txBody>
      </p:sp>
      <p:sp>
        <p:nvSpPr>
          <p:cNvPr id="16" name="四角形: メモ 15">
            <a:extLst>
              <a:ext uri="{FF2B5EF4-FFF2-40B4-BE49-F238E27FC236}">
                <a16:creationId xmlns:a16="http://schemas.microsoft.com/office/drawing/2014/main" id="{01BB13E7-CE37-25B1-AE08-DFE2A8FAC628}"/>
              </a:ext>
            </a:extLst>
          </p:cNvPr>
          <p:cNvSpPr/>
          <p:nvPr/>
        </p:nvSpPr>
        <p:spPr>
          <a:xfrm>
            <a:off x="736706" y="4197711"/>
            <a:ext cx="739158" cy="1043334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/>
              <a:t>ファイル</a:t>
            </a:r>
          </a:p>
        </p:txBody>
      </p:sp>
      <p:sp>
        <p:nvSpPr>
          <p:cNvPr id="18" name="四角形: メモ 17">
            <a:extLst>
              <a:ext uri="{FF2B5EF4-FFF2-40B4-BE49-F238E27FC236}">
                <a16:creationId xmlns:a16="http://schemas.microsoft.com/office/drawing/2014/main" id="{D570A1F7-5853-273F-61F1-429D7950690E}"/>
              </a:ext>
            </a:extLst>
          </p:cNvPr>
          <p:cNvSpPr/>
          <p:nvPr/>
        </p:nvSpPr>
        <p:spPr>
          <a:xfrm>
            <a:off x="736707" y="3404659"/>
            <a:ext cx="739157" cy="463461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.</a:t>
            </a:r>
            <a:r>
              <a:rPr kumimoji="1" lang="en-US" altLang="ja-JP" sz="1000" dirty="0" err="1"/>
              <a:t>gitignore</a:t>
            </a:r>
            <a:endParaRPr kumimoji="1" lang="ja-JP" altLang="en-US" sz="10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814D18-F85F-8121-996F-78E2AA9E2305}"/>
              </a:ext>
            </a:extLst>
          </p:cNvPr>
          <p:cNvSpPr txBox="1"/>
          <p:nvPr/>
        </p:nvSpPr>
        <p:spPr>
          <a:xfrm>
            <a:off x="590759" y="2512119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ワークツリー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2D0A330-C624-6F06-D6FC-816624AD9158}"/>
              </a:ext>
            </a:extLst>
          </p:cNvPr>
          <p:cNvSpPr/>
          <p:nvPr/>
        </p:nvSpPr>
        <p:spPr>
          <a:xfrm>
            <a:off x="3057259" y="2774183"/>
            <a:ext cx="1274619" cy="2834007"/>
          </a:xfrm>
          <a:prstGeom prst="roundRect">
            <a:avLst>
              <a:gd name="adj" fmla="val 6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05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298D064-08F5-7810-6511-BCF7E535D574}"/>
              </a:ext>
            </a:extLst>
          </p:cNvPr>
          <p:cNvSpPr txBox="1"/>
          <p:nvPr/>
        </p:nvSpPr>
        <p:spPr>
          <a:xfrm>
            <a:off x="2996300" y="2519813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/>
              <a:t>ステージングエリア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86248EB-0D38-CF67-006A-8B966F21CF46}"/>
              </a:ext>
            </a:extLst>
          </p:cNvPr>
          <p:cNvSpPr/>
          <p:nvPr/>
        </p:nvSpPr>
        <p:spPr>
          <a:xfrm>
            <a:off x="5716632" y="2774183"/>
            <a:ext cx="1274619" cy="2834007"/>
          </a:xfrm>
          <a:prstGeom prst="roundRect">
            <a:avLst>
              <a:gd name="adj" fmla="val 6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105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88F0D2C-646D-1493-F5BD-CA2720095A64}"/>
              </a:ext>
            </a:extLst>
          </p:cNvPr>
          <p:cNvSpPr txBox="1"/>
          <p:nvPr/>
        </p:nvSpPr>
        <p:spPr>
          <a:xfrm>
            <a:off x="5777590" y="2512119"/>
            <a:ext cx="1220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Git</a:t>
            </a:r>
            <a:r>
              <a:rPr kumimoji="1" lang="ja-JP" altLang="en-US" sz="1050" dirty="0"/>
              <a:t>ディレクトリ</a:t>
            </a:r>
          </a:p>
        </p:txBody>
      </p:sp>
      <p:sp>
        <p:nvSpPr>
          <p:cNvPr id="28" name="四角形: メモ 27">
            <a:extLst>
              <a:ext uri="{FF2B5EF4-FFF2-40B4-BE49-F238E27FC236}">
                <a16:creationId xmlns:a16="http://schemas.microsoft.com/office/drawing/2014/main" id="{E16EE5B5-382C-2808-59CD-32FE2B53CAB0}"/>
              </a:ext>
            </a:extLst>
          </p:cNvPr>
          <p:cNvSpPr/>
          <p:nvPr/>
        </p:nvSpPr>
        <p:spPr>
          <a:xfrm>
            <a:off x="3324989" y="4200744"/>
            <a:ext cx="739158" cy="1043334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/>
              <a:t>ファイル</a:t>
            </a:r>
          </a:p>
        </p:txBody>
      </p:sp>
      <p:sp>
        <p:nvSpPr>
          <p:cNvPr id="29" name="四角形: メモ 28">
            <a:extLst>
              <a:ext uri="{FF2B5EF4-FFF2-40B4-BE49-F238E27FC236}">
                <a16:creationId xmlns:a16="http://schemas.microsoft.com/office/drawing/2014/main" id="{CB051F87-43B8-CC74-BB17-CEAD8508A18C}"/>
              </a:ext>
            </a:extLst>
          </p:cNvPr>
          <p:cNvSpPr/>
          <p:nvPr/>
        </p:nvSpPr>
        <p:spPr>
          <a:xfrm>
            <a:off x="5984362" y="4197711"/>
            <a:ext cx="739158" cy="1043334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700" dirty="0"/>
              <a:t>ファイル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7F63FEF-CE63-08F0-3642-6ABE20EE2E78}"/>
              </a:ext>
            </a:extLst>
          </p:cNvPr>
          <p:cNvCxnSpPr>
            <a:cxnSpLocks/>
          </p:cNvCxnSpPr>
          <p:nvPr/>
        </p:nvCxnSpPr>
        <p:spPr>
          <a:xfrm>
            <a:off x="2562295" y="1306590"/>
            <a:ext cx="0" cy="133633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73EB8025-D497-6958-3786-A55A18E8C05E}"/>
              </a:ext>
            </a:extLst>
          </p:cNvPr>
          <p:cNvCxnSpPr>
            <a:cxnSpLocks/>
          </p:cNvCxnSpPr>
          <p:nvPr/>
        </p:nvCxnSpPr>
        <p:spPr>
          <a:xfrm>
            <a:off x="1621811" y="4406051"/>
            <a:ext cx="159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2534B4B-FBF5-8279-C352-D91C9BD7085D}"/>
              </a:ext>
            </a:extLst>
          </p:cNvPr>
          <p:cNvSpPr txBox="1"/>
          <p:nvPr/>
        </p:nvSpPr>
        <p:spPr>
          <a:xfrm>
            <a:off x="1954631" y="4400480"/>
            <a:ext cx="8915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add </a:t>
            </a:r>
            <a:r>
              <a:rPr lang="en-US" altLang="ja-JP" sz="1000" i="1" dirty="0"/>
              <a:t>path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9CB8A22C-CF51-1090-BAC4-53442553B744}"/>
              </a:ext>
            </a:extLst>
          </p:cNvPr>
          <p:cNvCxnSpPr/>
          <p:nvPr/>
        </p:nvCxnSpPr>
        <p:spPr>
          <a:xfrm flipH="1" flipV="1">
            <a:off x="1554486" y="5178700"/>
            <a:ext cx="488114" cy="304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50D3995F-22A3-B11C-14D4-E74E3002CB7C}"/>
              </a:ext>
            </a:extLst>
          </p:cNvPr>
          <p:cNvCxnSpPr>
            <a:cxnSpLocks/>
          </p:cNvCxnSpPr>
          <p:nvPr/>
        </p:nvCxnSpPr>
        <p:spPr>
          <a:xfrm flipV="1">
            <a:off x="2816904" y="5174504"/>
            <a:ext cx="448320" cy="304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7F98842-936F-B666-4536-3C4151A921E5}"/>
              </a:ext>
            </a:extLst>
          </p:cNvPr>
          <p:cNvSpPr txBox="1"/>
          <p:nvPr/>
        </p:nvSpPr>
        <p:spPr>
          <a:xfrm>
            <a:off x="2042600" y="5387448"/>
            <a:ext cx="8290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rm </a:t>
            </a:r>
            <a:r>
              <a:rPr lang="en-US" altLang="ja-JP" sz="1000" i="1" dirty="0"/>
              <a:t>path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74135EA-DC54-E520-914E-2DCF102F11F7}"/>
              </a:ext>
            </a:extLst>
          </p:cNvPr>
          <p:cNvSpPr txBox="1"/>
          <p:nvPr/>
        </p:nvSpPr>
        <p:spPr>
          <a:xfrm>
            <a:off x="4620137" y="4400963"/>
            <a:ext cx="808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commit</a:t>
            </a:r>
            <a:endParaRPr lang="en-US" altLang="ja-JP" sz="1000" i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913B6887-BCC7-E246-0FA9-7A4CDF7C8F9C}"/>
              </a:ext>
            </a:extLst>
          </p:cNvPr>
          <p:cNvCxnSpPr>
            <a:cxnSpLocks/>
          </p:cNvCxnSpPr>
          <p:nvPr/>
        </p:nvCxnSpPr>
        <p:spPr>
          <a:xfrm>
            <a:off x="4244030" y="4387528"/>
            <a:ext cx="15953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5CFF09B3-7FCD-6835-2F4A-0D13C1246F09}"/>
              </a:ext>
            </a:extLst>
          </p:cNvPr>
          <p:cNvCxnSpPr>
            <a:cxnSpLocks/>
          </p:cNvCxnSpPr>
          <p:nvPr/>
        </p:nvCxnSpPr>
        <p:spPr>
          <a:xfrm flipH="1" flipV="1">
            <a:off x="2398743" y="4582209"/>
            <a:ext cx="1683" cy="13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EB1699B-80EE-7266-0B37-1F8795E078F6}"/>
              </a:ext>
            </a:extLst>
          </p:cNvPr>
          <p:cNvSpPr txBox="1"/>
          <p:nvPr/>
        </p:nvSpPr>
        <p:spPr>
          <a:xfrm>
            <a:off x="1760146" y="4660743"/>
            <a:ext cx="1351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git restore --staged </a:t>
            </a:r>
            <a:r>
              <a:rPr lang="en-US" altLang="ja-JP" sz="800" i="1" dirty="0"/>
              <a:t>path</a:t>
            </a:r>
          </a:p>
          <a:p>
            <a:r>
              <a:rPr lang="en-US" altLang="ja-JP" sz="800" dirty="0"/>
              <a:t>*git add</a:t>
            </a:r>
            <a:r>
              <a:rPr lang="ja-JP" altLang="en-US" sz="800" dirty="0"/>
              <a:t>の取り消し</a:t>
            </a:r>
            <a:endParaRPr lang="en-US" altLang="ja-JP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E34DB15-5ED1-1ED0-0BC5-D81B1DAD1242}"/>
              </a:ext>
            </a:extLst>
          </p:cNvPr>
          <p:cNvSpPr txBox="1"/>
          <p:nvPr/>
        </p:nvSpPr>
        <p:spPr>
          <a:xfrm rot="20419038">
            <a:off x="4628708" y="5135126"/>
            <a:ext cx="1091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restore </a:t>
            </a:r>
            <a:r>
              <a:rPr lang="en-US" altLang="ja-JP" sz="1000" i="1" dirty="0"/>
              <a:t>path</a:t>
            </a:r>
          </a:p>
        </p:txBody>
      </p:sp>
      <p:sp>
        <p:nvSpPr>
          <p:cNvPr id="56" name="フリーフォーム: 図形 55">
            <a:extLst>
              <a:ext uri="{FF2B5EF4-FFF2-40B4-BE49-F238E27FC236}">
                <a16:creationId xmlns:a16="http://schemas.microsoft.com/office/drawing/2014/main" id="{A49FD6F4-EE35-F663-D708-E471688F17BE}"/>
              </a:ext>
            </a:extLst>
          </p:cNvPr>
          <p:cNvSpPr/>
          <p:nvPr/>
        </p:nvSpPr>
        <p:spPr>
          <a:xfrm>
            <a:off x="1620851" y="4904620"/>
            <a:ext cx="4213860" cy="556260"/>
          </a:xfrm>
          <a:custGeom>
            <a:avLst/>
            <a:gdLst>
              <a:gd name="connsiteX0" fmla="*/ 4213860 w 4213860"/>
              <a:gd name="connsiteY0" fmla="*/ 0 h 556260"/>
              <a:gd name="connsiteX1" fmla="*/ 2057400 w 4213860"/>
              <a:gd name="connsiteY1" fmla="*/ 556260 h 556260"/>
              <a:gd name="connsiteX2" fmla="*/ 0 w 4213860"/>
              <a:gd name="connsiteY2" fmla="*/ 0 h 55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3860" h="556260">
                <a:moveTo>
                  <a:pt x="4213860" y="0"/>
                </a:moveTo>
                <a:cubicBezTo>
                  <a:pt x="3486785" y="278130"/>
                  <a:pt x="2759710" y="556260"/>
                  <a:pt x="2057400" y="556260"/>
                </a:cubicBezTo>
                <a:cubicBezTo>
                  <a:pt x="1355090" y="556260"/>
                  <a:pt x="677545" y="278130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右中かっこ 56">
            <a:extLst>
              <a:ext uri="{FF2B5EF4-FFF2-40B4-BE49-F238E27FC236}">
                <a16:creationId xmlns:a16="http://schemas.microsoft.com/office/drawing/2014/main" id="{0D07752B-AB0E-2BB8-0F54-805B01AA4032}"/>
              </a:ext>
            </a:extLst>
          </p:cNvPr>
          <p:cNvSpPr/>
          <p:nvPr/>
        </p:nvSpPr>
        <p:spPr>
          <a:xfrm rot="5400000">
            <a:off x="3698362" y="2814189"/>
            <a:ext cx="121785" cy="6045097"/>
          </a:xfrm>
          <a:prstGeom prst="rightBrac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F24F518D-2DC0-4046-213F-99943D2AD2BA}"/>
              </a:ext>
            </a:extLst>
          </p:cNvPr>
          <p:cNvSpPr txBox="1"/>
          <p:nvPr/>
        </p:nvSpPr>
        <p:spPr>
          <a:xfrm>
            <a:off x="3390403" y="5904248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status</a:t>
            </a:r>
            <a:endParaRPr lang="en-US" altLang="ja-JP" sz="1000" i="1" dirty="0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DF2B98F-C3DE-4501-7568-A595FC8D4E52}"/>
              </a:ext>
            </a:extLst>
          </p:cNvPr>
          <p:cNvSpPr txBox="1"/>
          <p:nvPr/>
        </p:nvSpPr>
        <p:spPr>
          <a:xfrm>
            <a:off x="3377116" y="6115427"/>
            <a:ext cx="7697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log --p</a:t>
            </a:r>
            <a:endParaRPr lang="en-US" altLang="ja-JP" sz="1000" i="1" dirty="0"/>
          </a:p>
        </p:txBody>
      </p:sp>
      <p:sp>
        <p:nvSpPr>
          <p:cNvPr id="62" name="フリーフォーム: 図形 61">
            <a:extLst>
              <a:ext uri="{FF2B5EF4-FFF2-40B4-BE49-F238E27FC236}">
                <a16:creationId xmlns:a16="http://schemas.microsoft.com/office/drawing/2014/main" id="{20D66135-983D-D9EE-2E58-9B58DBA09452}"/>
              </a:ext>
            </a:extLst>
          </p:cNvPr>
          <p:cNvSpPr/>
          <p:nvPr/>
        </p:nvSpPr>
        <p:spPr>
          <a:xfrm>
            <a:off x="1615440" y="4019114"/>
            <a:ext cx="1607820" cy="227175"/>
          </a:xfrm>
          <a:custGeom>
            <a:avLst/>
            <a:gdLst>
              <a:gd name="connsiteX0" fmla="*/ 0 w 1607820"/>
              <a:gd name="connsiteY0" fmla="*/ 144794 h 144794"/>
              <a:gd name="connsiteX1" fmla="*/ 784860 w 1607820"/>
              <a:gd name="connsiteY1" fmla="*/ 14 h 144794"/>
              <a:gd name="connsiteX2" fmla="*/ 1607820 w 1607820"/>
              <a:gd name="connsiteY2" fmla="*/ 137174 h 14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820" h="144794">
                <a:moveTo>
                  <a:pt x="0" y="144794"/>
                </a:moveTo>
                <a:cubicBezTo>
                  <a:pt x="258445" y="73039"/>
                  <a:pt x="516890" y="1284"/>
                  <a:pt x="784860" y="14"/>
                </a:cubicBezTo>
                <a:cubicBezTo>
                  <a:pt x="1052830" y="-1256"/>
                  <a:pt x="1502410" y="80024"/>
                  <a:pt x="1607820" y="137174"/>
                </a:cubicBezTo>
              </a:path>
            </a:pathLst>
          </a:custGeom>
          <a:noFill/>
          <a:ln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A4101712-9562-A488-2147-3C97A08B4CBA}"/>
              </a:ext>
            </a:extLst>
          </p:cNvPr>
          <p:cNvSpPr/>
          <p:nvPr/>
        </p:nvSpPr>
        <p:spPr>
          <a:xfrm>
            <a:off x="4237919" y="4033298"/>
            <a:ext cx="1607820" cy="227175"/>
          </a:xfrm>
          <a:custGeom>
            <a:avLst/>
            <a:gdLst>
              <a:gd name="connsiteX0" fmla="*/ 0 w 1607820"/>
              <a:gd name="connsiteY0" fmla="*/ 144794 h 144794"/>
              <a:gd name="connsiteX1" fmla="*/ 784860 w 1607820"/>
              <a:gd name="connsiteY1" fmla="*/ 14 h 144794"/>
              <a:gd name="connsiteX2" fmla="*/ 1607820 w 1607820"/>
              <a:gd name="connsiteY2" fmla="*/ 137174 h 14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7820" h="144794">
                <a:moveTo>
                  <a:pt x="0" y="144794"/>
                </a:moveTo>
                <a:cubicBezTo>
                  <a:pt x="258445" y="73039"/>
                  <a:pt x="516890" y="1284"/>
                  <a:pt x="784860" y="14"/>
                </a:cubicBezTo>
                <a:cubicBezTo>
                  <a:pt x="1052830" y="-1256"/>
                  <a:pt x="1502410" y="80024"/>
                  <a:pt x="1607820" y="137174"/>
                </a:cubicBezTo>
              </a:path>
            </a:pathLst>
          </a:custGeom>
          <a:noFill/>
          <a:ln>
            <a:solidFill>
              <a:schemeClr val="accent4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20A6750F-BE71-09F5-663E-688E4081F670}"/>
              </a:ext>
            </a:extLst>
          </p:cNvPr>
          <p:cNvSpPr txBox="1"/>
          <p:nvPr/>
        </p:nvSpPr>
        <p:spPr>
          <a:xfrm>
            <a:off x="2111469" y="3757491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diff</a:t>
            </a:r>
            <a:endParaRPr lang="en-US" altLang="ja-JP" sz="1000" i="1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2BCA4DAE-5193-11B5-AF07-A288FB6B8AD0}"/>
              </a:ext>
            </a:extLst>
          </p:cNvPr>
          <p:cNvSpPr txBox="1"/>
          <p:nvPr/>
        </p:nvSpPr>
        <p:spPr>
          <a:xfrm>
            <a:off x="4600104" y="3772893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diff --cached</a:t>
            </a:r>
            <a:endParaRPr lang="en-US" altLang="ja-JP" sz="1000" i="1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A19A3381-E74B-AEFC-BD98-91AA21822B2B}"/>
              </a:ext>
            </a:extLst>
          </p:cNvPr>
          <p:cNvSpPr txBox="1"/>
          <p:nvPr/>
        </p:nvSpPr>
        <p:spPr>
          <a:xfrm>
            <a:off x="234004" y="6493542"/>
            <a:ext cx="1313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自</a:t>
            </a:r>
            <a:r>
              <a:rPr lang="en-US" altLang="ja-JP" sz="1200" b="1" dirty="0"/>
              <a:t>PC</a:t>
            </a:r>
            <a:r>
              <a:rPr lang="ja-JP" altLang="en-US" sz="1200" b="1" dirty="0"/>
              <a:t>のフォルダ</a:t>
            </a:r>
            <a:endParaRPr lang="en-US" altLang="ja-JP" sz="1200" b="1" dirty="0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7C16747B-AAD3-D32A-E199-5C2986A71F5C}"/>
              </a:ext>
            </a:extLst>
          </p:cNvPr>
          <p:cNvSpPr txBox="1"/>
          <p:nvPr/>
        </p:nvSpPr>
        <p:spPr>
          <a:xfrm>
            <a:off x="7455708" y="6480633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b="1" dirty="0"/>
              <a:t>github.com</a:t>
            </a:r>
            <a:endParaRPr kumimoji="1" lang="ja-JP" altLang="en-US" sz="1200" b="1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E97FC6B3-FE6B-BFC8-20B0-B1EF521FFEF6}"/>
              </a:ext>
            </a:extLst>
          </p:cNvPr>
          <p:cNvSpPr txBox="1"/>
          <p:nvPr/>
        </p:nvSpPr>
        <p:spPr>
          <a:xfrm>
            <a:off x="175422" y="78231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ローカル環境作成</a:t>
            </a:r>
            <a:endParaRPr kumimoji="1" lang="ja-JP" altLang="en-US" sz="1600" b="1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4A3CF096-5290-5A55-1D6B-63310DDFA738}"/>
              </a:ext>
            </a:extLst>
          </p:cNvPr>
          <p:cNvSpPr txBox="1"/>
          <p:nvPr/>
        </p:nvSpPr>
        <p:spPr>
          <a:xfrm>
            <a:off x="7424705" y="93471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リモート環境作成</a:t>
            </a:r>
            <a:endParaRPr kumimoji="1" lang="ja-JP" altLang="en-US" sz="1600" b="1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A89BAAD-72F6-C74D-FEEF-70733DDAC4B2}"/>
              </a:ext>
            </a:extLst>
          </p:cNvPr>
          <p:cNvSpPr txBox="1"/>
          <p:nvPr/>
        </p:nvSpPr>
        <p:spPr>
          <a:xfrm>
            <a:off x="7430246" y="43055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①キーペアの作成：</a:t>
            </a:r>
            <a:endParaRPr kumimoji="1" lang="en-US" altLang="ja-JP" sz="12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0232C57C-605F-275B-F41A-0981B8CBCE66}"/>
              </a:ext>
            </a:extLst>
          </p:cNvPr>
          <p:cNvSpPr txBox="1"/>
          <p:nvPr/>
        </p:nvSpPr>
        <p:spPr>
          <a:xfrm>
            <a:off x="7435469" y="871546"/>
            <a:ext cx="46714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/>
              <a:t>②</a:t>
            </a:r>
            <a:r>
              <a:rPr lang="en-US" altLang="ja-JP" sz="1200" dirty="0" err="1"/>
              <a:t>github</a:t>
            </a:r>
            <a:r>
              <a:rPr lang="ja-JP" altLang="en-US" sz="1200" dirty="0"/>
              <a:t>への公開鍵の登録：</a:t>
            </a:r>
            <a:r>
              <a:rPr lang="en-US" altLang="ja-JP" sz="1100" dirty="0"/>
              <a:t>Settings</a:t>
            </a:r>
            <a:r>
              <a:rPr lang="ja-JP" altLang="en-US" sz="1100" dirty="0"/>
              <a:t>から</a:t>
            </a:r>
            <a:r>
              <a:rPr lang="en-US" altLang="ja-JP" sz="1100" dirty="0"/>
              <a:t>SSH and GPG</a:t>
            </a:r>
            <a:r>
              <a:rPr lang="ja-JP" altLang="en-US" sz="1100" dirty="0"/>
              <a:t> </a:t>
            </a:r>
            <a:r>
              <a:rPr lang="en-US" altLang="ja-JP" sz="1100" dirty="0"/>
              <a:t>Keys</a:t>
            </a:r>
            <a:r>
              <a:rPr lang="ja-JP" altLang="en-US" sz="1100" dirty="0"/>
              <a:t>を選択</a:t>
            </a:r>
            <a:endParaRPr lang="ja-JP" altLang="en-US" sz="1200" i="1" dirty="0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8C7C552C-CC6A-1C11-7E04-983E65F45DEB}"/>
              </a:ext>
            </a:extLst>
          </p:cNvPr>
          <p:cNvSpPr txBox="1"/>
          <p:nvPr/>
        </p:nvSpPr>
        <p:spPr>
          <a:xfrm>
            <a:off x="8398000" y="1163933"/>
            <a:ext cx="15199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ssh –T git@github.com</a:t>
            </a:r>
            <a:endParaRPr lang="en-US" altLang="ja-JP" sz="1000" i="1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38E18D9C-6086-B10C-C6B1-1D4221B38946}"/>
              </a:ext>
            </a:extLst>
          </p:cNvPr>
          <p:cNvSpPr txBox="1"/>
          <p:nvPr/>
        </p:nvSpPr>
        <p:spPr>
          <a:xfrm>
            <a:off x="7681298" y="116393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設定の確認</a:t>
            </a:r>
            <a:endParaRPr kumimoji="1" lang="ja-JP" altLang="en-US" sz="10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304FEBCA-8663-FEA1-0B03-B4B6DFFA1FCD}"/>
              </a:ext>
            </a:extLst>
          </p:cNvPr>
          <p:cNvSpPr txBox="1"/>
          <p:nvPr/>
        </p:nvSpPr>
        <p:spPr>
          <a:xfrm>
            <a:off x="7614285" y="632288"/>
            <a:ext cx="37582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050" dirty="0"/>
              <a:t>ssh-keygen –t ed25519 –C “</a:t>
            </a:r>
            <a:r>
              <a:rPr kumimoji="1" lang="ja-JP" altLang="en-US" sz="1050" i="1" dirty="0"/>
              <a:t>公開してよいメールアドレス</a:t>
            </a:r>
            <a:r>
              <a:rPr kumimoji="1" lang="en-US" altLang="ja-JP" sz="1050" dirty="0"/>
              <a:t>”</a:t>
            </a:r>
            <a:endParaRPr lang="ja-JP" altLang="en-US" sz="1050" dirty="0"/>
          </a:p>
        </p:txBody>
      </p:sp>
      <p:sp>
        <p:nvSpPr>
          <p:cNvPr id="79" name="フローチャート: 磁気ディスク 78">
            <a:extLst>
              <a:ext uri="{FF2B5EF4-FFF2-40B4-BE49-F238E27FC236}">
                <a16:creationId xmlns:a16="http://schemas.microsoft.com/office/drawing/2014/main" id="{E5FBD119-95CE-3E7C-16C2-0AC0522FDA39}"/>
              </a:ext>
            </a:extLst>
          </p:cNvPr>
          <p:cNvSpPr/>
          <p:nvPr/>
        </p:nvSpPr>
        <p:spPr>
          <a:xfrm>
            <a:off x="9242328" y="2228265"/>
            <a:ext cx="1005840" cy="762000"/>
          </a:xfrm>
          <a:prstGeom prst="flowChartMagneticDisk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050" dirty="0"/>
              <a:t>他人の</a:t>
            </a:r>
            <a:endParaRPr lang="en-US" altLang="ja-JP" sz="1050" dirty="0"/>
          </a:p>
          <a:p>
            <a:pPr algn="ctr"/>
            <a:r>
              <a:rPr lang="ja-JP" altLang="en-US" sz="1050" dirty="0"/>
              <a:t>リモート</a:t>
            </a:r>
            <a:endParaRPr lang="en-US" altLang="ja-JP" sz="1050" dirty="0"/>
          </a:p>
          <a:p>
            <a:pPr algn="ctr"/>
            <a:r>
              <a:rPr lang="ja-JP" altLang="en-US" sz="1050" dirty="0"/>
              <a:t>リポジトリ</a:t>
            </a:r>
            <a:endParaRPr kumimoji="1" lang="ja-JP" altLang="en-US" sz="1050" dirty="0"/>
          </a:p>
        </p:txBody>
      </p:sp>
      <p:sp>
        <p:nvSpPr>
          <p:cNvPr id="80" name="フローチャート: 磁気ディスク 79">
            <a:extLst>
              <a:ext uri="{FF2B5EF4-FFF2-40B4-BE49-F238E27FC236}">
                <a16:creationId xmlns:a16="http://schemas.microsoft.com/office/drawing/2014/main" id="{67FE1CAB-58E5-ECE3-474F-16362E84A775}"/>
              </a:ext>
            </a:extLst>
          </p:cNvPr>
          <p:cNvSpPr/>
          <p:nvPr/>
        </p:nvSpPr>
        <p:spPr>
          <a:xfrm>
            <a:off x="9309100" y="3840467"/>
            <a:ext cx="2268220" cy="2310001"/>
          </a:xfrm>
          <a:prstGeom prst="flowChartMagneticDisk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1" lang="ja-JP" altLang="en-US" sz="1050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DF14B175-6511-DCC2-6D87-43DDB887FE60}"/>
              </a:ext>
            </a:extLst>
          </p:cNvPr>
          <p:cNvSpPr txBox="1"/>
          <p:nvPr/>
        </p:nvSpPr>
        <p:spPr>
          <a:xfrm>
            <a:off x="9265188" y="3971858"/>
            <a:ext cx="23550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/>
              <a:t>自分のリモートリポジトリ</a:t>
            </a:r>
            <a:endParaRPr kumimoji="1" lang="ja-JP" altLang="en-US" sz="1200" dirty="0"/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42C1B72F-23B2-EED3-BD56-22A44E02D21E}"/>
              </a:ext>
            </a:extLst>
          </p:cNvPr>
          <p:cNvCxnSpPr>
            <a:cxnSpLocks/>
          </p:cNvCxnSpPr>
          <p:nvPr/>
        </p:nvCxnSpPr>
        <p:spPr>
          <a:xfrm>
            <a:off x="9751742" y="3102777"/>
            <a:ext cx="0" cy="533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06A2F32A-4DA9-729B-4EA0-67FC8621A3BF}"/>
              </a:ext>
            </a:extLst>
          </p:cNvPr>
          <p:cNvSpPr txBox="1"/>
          <p:nvPr/>
        </p:nvSpPr>
        <p:spPr>
          <a:xfrm>
            <a:off x="9751742" y="321657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 dirty="0"/>
              <a:t>フォーク</a:t>
            </a:r>
            <a:endParaRPr lang="en-US" altLang="ja-JP" sz="1000" i="1" dirty="0"/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9A6A5228-E52F-6A24-840A-E2C61086B425}"/>
              </a:ext>
            </a:extLst>
          </p:cNvPr>
          <p:cNvCxnSpPr>
            <a:cxnSpLocks/>
          </p:cNvCxnSpPr>
          <p:nvPr/>
        </p:nvCxnSpPr>
        <p:spPr>
          <a:xfrm flipH="1">
            <a:off x="7062665" y="4373025"/>
            <a:ext cx="2095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3199DF82-9B2E-6FC3-5A15-6BA72FFC7738}"/>
              </a:ext>
            </a:extLst>
          </p:cNvPr>
          <p:cNvSpPr txBox="1"/>
          <p:nvPr/>
        </p:nvSpPr>
        <p:spPr>
          <a:xfrm>
            <a:off x="7114993" y="4361226"/>
            <a:ext cx="2428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clone git@github.com</a:t>
            </a:r>
            <a:r>
              <a:rPr lang="en-US" altLang="ja-JP" sz="1000" dirty="0">
                <a:solidFill>
                  <a:srgbClr val="467886"/>
                </a:solidFill>
              </a:rPr>
              <a:t>:</a:t>
            </a:r>
            <a:r>
              <a:rPr lang="en-US" altLang="ja-JP" sz="1000" i="1" dirty="0"/>
              <a:t>github</a:t>
            </a:r>
            <a:r>
              <a:rPr lang="ja-JP" altLang="en-US" sz="1000" i="1" dirty="0"/>
              <a:t>のパス</a:t>
            </a:r>
            <a:endParaRPr lang="en-US" altLang="ja-JP" sz="1000" i="1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A9B51148-DEF8-2BED-000D-637696723521}"/>
              </a:ext>
            </a:extLst>
          </p:cNvPr>
          <p:cNvSpPr txBox="1"/>
          <p:nvPr/>
        </p:nvSpPr>
        <p:spPr>
          <a:xfrm>
            <a:off x="4506568" y="4565630"/>
            <a:ext cx="11224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*git rm</a:t>
            </a:r>
            <a:r>
              <a:rPr lang="ja-JP" altLang="en-US" sz="800" dirty="0"/>
              <a:t>の場合も必要</a:t>
            </a:r>
            <a:endParaRPr lang="en-US" altLang="ja-JP" sz="800" dirty="0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4C79BB99-3B59-9088-84E2-5A6E1573FEEE}"/>
              </a:ext>
            </a:extLst>
          </p:cNvPr>
          <p:cNvSpPr txBox="1"/>
          <p:nvPr/>
        </p:nvSpPr>
        <p:spPr>
          <a:xfrm>
            <a:off x="7192624" y="4565630"/>
            <a:ext cx="6431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*</a:t>
            </a:r>
            <a:r>
              <a:rPr lang="ja-JP" altLang="en-US" sz="800" dirty="0"/>
              <a:t>初回のみ</a:t>
            </a:r>
            <a:endParaRPr lang="en-US" altLang="ja-JP" sz="800" dirty="0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303E37F8-0742-5E6C-CD9B-9AC5F51603F7}"/>
              </a:ext>
            </a:extLst>
          </p:cNvPr>
          <p:cNvSpPr txBox="1"/>
          <p:nvPr/>
        </p:nvSpPr>
        <p:spPr>
          <a:xfrm>
            <a:off x="9806244" y="3367656"/>
            <a:ext cx="6431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*</a:t>
            </a:r>
            <a:r>
              <a:rPr lang="ja-JP" altLang="en-US" sz="800" dirty="0"/>
              <a:t>初回のみ</a:t>
            </a:r>
            <a:endParaRPr lang="en-US" altLang="ja-JP" sz="800" dirty="0"/>
          </a:p>
        </p:txBody>
      </p: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8BCC3A3A-D026-D4B1-91E9-38613D4A2A7B}"/>
              </a:ext>
            </a:extLst>
          </p:cNvPr>
          <p:cNvCxnSpPr>
            <a:cxnSpLocks/>
          </p:cNvCxnSpPr>
          <p:nvPr/>
        </p:nvCxnSpPr>
        <p:spPr>
          <a:xfrm flipH="1">
            <a:off x="7114993" y="4734666"/>
            <a:ext cx="2042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FE52348F-DDE3-6839-8A7C-401B2F394B39}"/>
              </a:ext>
            </a:extLst>
          </p:cNvPr>
          <p:cNvSpPr txBox="1"/>
          <p:nvPr/>
        </p:nvSpPr>
        <p:spPr>
          <a:xfrm>
            <a:off x="7579191" y="4734666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fetch origin</a:t>
            </a:r>
            <a:endParaRPr lang="en-US" altLang="ja-JP" sz="1000" i="1" dirty="0"/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F5616478-C776-474F-1849-4A9C68A43751}"/>
              </a:ext>
            </a:extLst>
          </p:cNvPr>
          <p:cNvSpPr/>
          <p:nvPr/>
        </p:nvSpPr>
        <p:spPr>
          <a:xfrm>
            <a:off x="1098550" y="5320709"/>
            <a:ext cx="8045450" cy="387355"/>
          </a:xfrm>
          <a:custGeom>
            <a:avLst/>
            <a:gdLst>
              <a:gd name="connsiteX0" fmla="*/ 8045450 w 8045450"/>
              <a:gd name="connsiteY0" fmla="*/ 0 h 387355"/>
              <a:gd name="connsiteX1" fmla="*/ 6959600 w 8045450"/>
              <a:gd name="connsiteY1" fmla="*/ 285750 h 387355"/>
              <a:gd name="connsiteX2" fmla="*/ 5289550 w 8045450"/>
              <a:gd name="connsiteY2" fmla="*/ 101600 h 387355"/>
              <a:gd name="connsiteX3" fmla="*/ 2546350 w 8045450"/>
              <a:gd name="connsiteY3" fmla="*/ 387350 h 387355"/>
              <a:gd name="connsiteX4" fmla="*/ 0 w 8045450"/>
              <a:gd name="connsiteY4" fmla="*/ 107950 h 38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45450" h="387355">
                <a:moveTo>
                  <a:pt x="8045450" y="0"/>
                </a:moveTo>
                <a:cubicBezTo>
                  <a:pt x="7732183" y="134408"/>
                  <a:pt x="7418917" y="268817"/>
                  <a:pt x="6959600" y="285750"/>
                </a:cubicBezTo>
                <a:cubicBezTo>
                  <a:pt x="6500283" y="302683"/>
                  <a:pt x="6025092" y="84667"/>
                  <a:pt x="5289550" y="101600"/>
                </a:cubicBezTo>
                <a:cubicBezTo>
                  <a:pt x="4554008" y="118533"/>
                  <a:pt x="3427942" y="386292"/>
                  <a:pt x="2546350" y="387350"/>
                </a:cubicBezTo>
                <a:cubicBezTo>
                  <a:pt x="1664758" y="388408"/>
                  <a:pt x="832379" y="248179"/>
                  <a:pt x="0" y="107950"/>
                </a:cubicBezTo>
              </a:path>
            </a:pathLst>
          </a:cu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A6B4C424-00DA-B05E-0A01-D0AF428AF3A2}"/>
              </a:ext>
            </a:extLst>
          </p:cNvPr>
          <p:cNvSpPr txBox="1"/>
          <p:nvPr/>
        </p:nvSpPr>
        <p:spPr>
          <a:xfrm>
            <a:off x="7455708" y="5596841"/>
            <a:ext cx="12795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pull origin main</a:t>
            </a:r>
            <a:endParaRPr lang="en-US" altLang="ja-JP" sz="1000" i="1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18A5328-1929-C000-0BE7-C24765717574}"/>
              </a:ext>
            </a:extLst>
          </p:cNvPr>
          <p:cNvCxnSpPr>
            <a:cxnSpLocks/>
          </p:cNvCxnSpPr>
          <p:nvPr/>
        </p:nvCxnSpPr>
        <p:spPr>
          <a:xfrm>
            <a:off x="7121920" y="5108740"/>
            <a:ext cx="2042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5C0C25-83CB-3CEA-AC41-C6EDE1074DE4}"/>
              </a:ext>
            </a:extLst>
          </p:cNvPr>
          <p:cNvSpPr txBox="1"/>
          <p:nvPr/>
        </p:nvSpPr>
        <p:spPr>
          <a:xfrm>
            <a:off x="7453390" y="5110302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/>
              <a:t>git push origin main</a:t>
            </a:r>
            <a:endParaRPr lang="en-US" altLang="ja-JP" sz="1000" i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6418C2-C4D2-E879-19C7-233F19AA159F}"/>
              </a:ext>
            </a:extLst>
          </p:cNvPr>
          <p:cNvSpPr txBox="1"/>
          <p:nvPr/>
        </p:nvSpPr>
        <p:spPr>
          <a:xfrm>
            <a:off x="193213" y="1724090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環境作成後のコマンド一覧</a:t>
            </a:r>
            <a:endParaRPr kumimoji="1" lang="ja-JP" altLang="en-US" sz="1600" b="1" dirty="0"/>
          </a:p>
        </p:txBody>
      </p:sp>
      <p:sp>
        <p:nvSpPr>
          <p:cNvPr id="17" name="四角形: メモ 16">
            <a:extLst>
              <a:ext uri="{FF2B5EF4-FFF2-40B4-BE49-F238E27FC236}">
                <a16:creationId xmlns:a16="http://schemas.microsoft.com/office/drawing/2014/main" id="{C086218A-7610-88E5-770B-6044965E4D4A}"/>
              </a:ext>
            </a:extLst>
          </p:cNvPr>
          <p:cNvSpPr/>
          <p:nvPr/>
        </p:nvSpPr>
        <p:spPr>
          <a:xfrm>
            <a:off x="3312202" y="3404659"/>
            <a:ext cx="739157" cy="463461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.</a:t>
            </a:r>
            <a:r>
              <a:rPr kumimoji="1" lang="en-US" altLang="ja-JP" sz="1000" dirty="0" err="1"/>
              <a:t>gitignore</a:t>
            </a:r>
            <a:endParaRPr kumimoji="1" lang="ja-JP" altLang="en-US" sz="1000" dirty="0"/>
          </a:p>
        </p:txBody>
      </p:sp>
      <p:sp>
        <p:nvSpPr>
          <p:cNvPr id="25" name="四角形: メモ 24">
            <a:extLst>
              <a:ext uri="{FF2B5EF4-FFF2-40B4-BE49-F238E27FC236}">
                <a16:creationId xmlns:a16="http://schemas.microsoft.com/office/drawing/2014/main" id="{355BF49B-7F9D-5B7C-93D1-B4BDA5612AA5}"/>
              </a:ext>
            </a:extLst>
          </p:cNvPr>
          <p:cNvSpPr/>
          <p:nvPr/>
        </p:nvSpPr>
        <p:spPr>
          <a:xfrm>
            <a:off x="6001336" y="3404659"/>
            <a:ext cx="739157" cy="463461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.</a:t>
            </a:r>
            <a:r>
              <a:rPr kumimoji="1" lang="en-US" altLang="ja-JP" sz="1000" dirty="0" err="1"/>
              <a:t>gitignore</a:t>
            </a:r>
            <a:endParaRPr kumimoji="1"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764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5C12966-9C94-6FB1-2F1D-501E50AFE660}"/>
              </a:ext>
            </a:extLst>
          </p:cNvPr>
          <p:cNvSpPr txBox="1"/>
          <p:nvPr/>
        </p:nvSpPr>
        <p:spPr>
          <a:xfrm>
            <a:off x="203845" y="171736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/>
              <a:t>ブランチとマージコマンド一覧</a:t>
            </a:r>
            <a:endParaRPr kumimoji="1"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675049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224</Words>
  <Application>Microsoft Office PowerPoint</Application>
  <PresentationFormat>ワイド画面</PresentationFormat>
  <Paragraphs>54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泰裕 中野</dc:creator>
  <cp:lastModifiedBy>泰裕 中野</cp:lastModifiedBy>
  <cp:revision>9</cp:revision>
  <dcterms:created xsi:type="dcterms:W3CDTF">2025-10-13T00:55:17Z</dcterms:created>
  <dcterms:modified xsi:type="dcterms:W3CDTF">2025-11-05T03:54:16Z</dcterms:modified>
</cp:coreProperties>
</file>