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 showGuides="1">
      <p:cViewPr varScale="1">
        <p:scale>
          <a:sx n="134" d="100"/>
          <a:sy n="134" d="100"/>
        </p:scale>
        <p:origin x="960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C0138-0E8D-7D06-BD7B-6E42DA01E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911C67-8CCF-EE35-BB45-B9BA6DC9B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37A355-483E-CB70-FF49-D3DCF948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464262-3B10-4655-D4F3-AB685AE4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4A9EAD-C972-F79C-40B8-B36BCA75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66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0387B-1CD7-AF40-52AF-56FE0CE9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ECBF84-5196-BE98-BED4-BC7D3DDE7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DDFB0-AB79-0099-3849-33E04A75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065D2-3EFD-CC6E-973D-2388F5B0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21E29-4D58-2D27-2150-67B085E7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65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B576F-3DFE-6395-8455-224345FE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53B60-92DE-D095-8102-3B572FC40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802537-B107-87C2-4D72-846B2FD4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85A50-8DFD-69C1-C07E-D06609C7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95D2B7-F556-4AE0-FCB9-16BB4140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41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8D162F-6817-113A-73AB-AC16DE0D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E61CB-E957-40AE-4BBA-47A7B42AB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6D70C3-50F2-EE50-D50F-983B38AAA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7C6C0D-584B-9A50-FF88-5A54C79B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63A983-DD0F-766C-8085-729875A6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14B412-E9BC-2919-B358-F2FBBC58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70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3D6FF-D6D9-7543-94DD-5AC51415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B6AA92-E2C0-1B54-39F7-D6844BBE7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6781B4-7483-0926-0879-A00968A7C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581A69-9801-3C55-9B83-924C6C3FB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B2FA55A-FD72-E651-EB37-E8207F410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D3BDA0-2345-7D32-8D5D-898C166E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28B28F0-19B8-D3CA-4AA1-0C35608A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B456E5-2790-33AF-910B-0E3B27E4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81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8152B-8DF9-6643-8E28-E9D51ADC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E96D85-CCC5-FA13-17D6-A5CBF4CE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93E0AE-7DCB-374B-257D-A1B6EC7E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113EED-F4D3-5035-C296-40E3CE83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7A70092-69C9-3CF5-A4BB-49D7876A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707048-DF45-240D-B1BE-3D4CB5DD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ACF086-3E9B-6823-0825-A77ED530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27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2E2643-8FC5-704C-AAA0-517F10B2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F6A388-C8B5-D192-84C6-EB3513611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36EC23-FE6F-5A7E-879E-8CB172AE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E99146-24C5-69F8-B14A-8A5114DB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45E2E3-FDED-D489-C162-8716E688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EF349C-0105-4920-2758-337A5C32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20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152F5-A3FC-E04C-402C-E30DD4C7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EB6738-2300-40B8-5FF1-763A21ECE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2C4BF3-A472-2189-DBA3-2CA82C18B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7CBCAB-03F6-073D-6A07-33F29931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8EF646-52E5-88D2-D8DD-5DF5D583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8E546D-68BC-800D-6318-90D83EBD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71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8F804-B432-44C2-3AA9-1786735F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371BB5-5DE1-EB6F-254C-5D5F0407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26E5A8-E15D-2206-36E3-54AEFCC2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FD259-74AA-2A35-1ED6-0D9B124D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C5BE07-B357-04DC-4E8F-EEFA1EC6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5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E1C7B69-D688-D242-BDF7-A3A811C6D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932882-62AA-0F38-3DBB-239C732D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D5C609-AA18-82AC-4428-10CEFB67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C954F3-7908-FE52-7484-44FB8305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AA58CD-AA3F-1D10-F1C4-8A23F127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87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34EFAA-1521-6A96-D54B-98C3F53E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E672BF-CA9A-F34B-A3AB-9C1EF4D5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DF2DA3-A292-7680-638F-425494C1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4979F-58F3-4BBC-9AC8-ED3E513A2302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AE7DDB-5527-0A34-9E26-2FA0ACDBC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833133-32A9-F0AC-9CC9-C5A643903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37922-8432-4127-ABBF-39F1AF1C97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16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3DCE774-2786-FCB0-AB94-B7F94078DBA0}"/>
              </a:ext>
            </a:extLst>
          </p:cNvPr>
          <p:cNvSpPr/>
          <p:nvPr/>
        </p:nvSpPr>
        <p:spPr>
          <a:xfrm>
            <a:off x="1751681" y="2027028"/>
            <a:ext cx="140618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実行中の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コンテナ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AF55529-9E50-D70E-456D-2E699FD3FACD}"/>
              </a:ext>
            </a:extLst>
          </p:cNvPr>
          <p:cNvSpPr/>
          <p:nvPr/>
        </p:nvSpPr>
        <p:spPr>
          <a:xfrm>
            <a:off x="1751680" y="2798553"/>
            <a:ext cx="5175994" cy="316122"/>
          </a:xfrm>
          <a:prstGeom prst="roundRect">
            <a:avLst>
              <a:gd name="adj" fmla="val 7379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Docker</a:t>
            </a:r>
            <a:r>
              <a:rPr lang="ja-JP" altLang="en-US" dirty="0"/>
              <a:t> </a:t>
            </a:r>
            <a:r>
              <a:rPr lang="en-US" altLang="ja-JP" dirty="0"/>
              <a:t>Daemon</a:t>
            </a:r>
            <a:endParaRPr kumimoji="1" lang="ja-JP" altLang="en-US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BC1964E-6E1B-523E-F8EF-8B8A1F762AA7}"/>
              </a:ext>
            </a:extLst>
          </p:cNvPr>
          <p:cNvSpPr/>
          <p:nvPr/>
        </p:nvSpPr>
        <p:spPr>
          <a:xfrm>
            <a:off x="1751680" y="3552890"/>
            <a:ext cx="5175994" cy="31612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Windows Subsystem for Linux 2(WSL2)</a:t>
            </a:r>
            <a:endParaRPr kumimoji="1" lang="ja-JP" altLang="en-US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BFFFDB3-444D-290C-3D32-99A3F5E01E47}"/>
              </a:ext>
            </a:extLst>
          </p:cNvPr>
          <p:cNvSpPr/>
          <p:nvPr/>
        </p:nvSpPr>
        <p:spPr>
          <a:xfrm>
            <a:off x="6994349" y="2798553"/>
            <a:ext cx="3714750" cy="1070459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Windows</a:t>
            </a:r>
            <a:endParaRPr kumimoji="1" lang="ja-JP" altLang="en-US" dirty="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733EE5D-B800-86C4-12D2-AA3F26F54489}"/>
              </a:ext>
            </a:extLst>
          </p:cNvPr>
          <p:cNvSpPr/>
          <p:nvPr/>
        </p:nvSpPr>
        <p:spPr>
          <a:xfrm>
            <a:off x="1751680" y="3175721"/>
            <a:ext cx="5175994" cy="316122"/>
          </a:xfrm>
          <a:prstGeom prst="roundRect">
            <a:avLst>
              <a:gd name="adj" fmla="val 7379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Linux※</a:t>
            </a:r>
            <a:endParaRPr kumimoji="1" lang="ja-JP" altLang="en-US" dirty="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4CA40FF-F96E-2344-39BB-130F0FDB8240}"/>
              </a:ext>
            </a:extLst>
          </p:cNvPr>
          <p:cNvSpPr/>
          <p:nvPr/>
        </p:nvSpPr>
        <p:spPr>
          <a:xfrm>
            <a:off x="6994349" y="2027028"/>
            <a:ext cx="3714750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Windows</a:t>
            </a:r>
            <a:r>
              <a:rPr kumimoji="1" lang="ja-JP" altLang="en-US" dirty="0"/>
              <a:t>アプリ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C61CB12-2220-32A4-5B49-FCC09A097F98}"/>
              </a:ext>
            </a:extLst>
          </p:cNvPr>
          <p:cNvSpPr/>
          <p:nvPr/>
        </p:nvSpPr>
        <p:spPr>
          <a:xfrm>
            <a:off x="1751679" y="3930059"/>
            <a:ext cx="8957419" cy="316122"/>
          </a:xfrm>
          <a:prstGeom prst="roundRect">
            <a:avLst>
              <a:gd name="adj" fmla="val 7379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ハードウェア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766C66E-9C8B-16EA-7AA2-A2643EDA8777}"/>
              </a:ext>
            </a:extLst>
          </p:cNvPr>
          <p:cNvSpPr txBox="1"/>
          <p:nvPr/>
        </p:nvSpPr>
        <p:spPr>
          <a:xfrm>
            <a:off x="1722687" y="4318113"/>
            <a:ext cx="9086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※Docker Desktop</a:t>
            </a:r>
            <a:r>
              <a:rPr lang="ja-JP" altLang="en-US" sz="1400" dirty="0"/>
              <a:t>インストール以前に</a:t>
            </a:r>
            <a:r>
              <a:rPr lang="en-US" altLang="ja-JP" sz="1400" dirty="0"/>
              <a:t>WSL2</a:t>
            </a:r>
            <a:r>
              <a:rPr lang="ja-JP" altLang="en-US" sz="1400" dirty="0"/>
              <a:t>に</a:t>
            </a:r>
            <a:r>
              <a:rPr lang="en-US" altLang="ja-JP" sz="1400" dirty="0"/>
              <a:t>Linux</a:t>
            </a:r>
            <a:r>
              <a:rPr lang="ja-JP" altLang="en-US" sz="1400" dirty="0"/>
              <a:t>をインストールしていればそのディストリビューションが選べるが、そうでない場合</a:t>
            </a:r>
            <a:r>
              <a:rPr lang="en-US" altLang="ja-JP" sz="1400" dirty="0"/>
              <a:t>”docker-desktop”</a:t>
            </a:r>
            <a:r>
              <a:rPr lang="ja-JP" altLang="en-US" sz="1400" dirty="0"/>
              <a:t>という名称の</a:t>
            </a:r>
            <a:r>
              <a:rPr lang="en-US" altLang="ja-JP" sz="1400" dirty="0"/>
              <a:t>Linux(Alpine</a:t>
            </a:r>
            <a:r>
              <a:rPr lang="ja-JP" altLang="en-US" sz="1400" dirty="0"/>
              <a:t>ベース</a:t>
            </a:r>
            <a:r>
              <a:rPr lang="en-US" altLang="ja-JP" sz="1400" dirty="0"/>
              <a:t>)</a:t>
            </a:r>
            <a:r>
              <a:rPr lang="ja-JP" altLang="en-US" sz="1400" dirty="0"/>
              <a:t>が自動的にインストールされる。</a:t>
            </a:r>
            <a:endParaRPr lang="en-US" altLang="ja-JP" sz="1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41BD25E-5FE9-4244-2182-BB0296FAE9C4}"/>
              </a:ext>
            </a:extLst>
          </p:cNvPr>
          <p:cNvSpPr/>
          <p:nvPr/>
        </p:nvSpPr>
        <p:spPr>
          <a:xfrm>
            <a:off x="3240239" y="2035622"/>
            <a:ext cx="140618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実行中の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コンテナ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DA5B027-7D7B-DFFE-CE98-870A01A1EFCF}"/>
              </a:ext>
            </a:extLst>
          </p:cNvPr>
          <p:cNvSpPr/>
          <p:nvPr/>
        </p:nvSpPr>
        <p:spPr>
          <a:xfrm>
            <a:off x="5505791" y="2035622"/>
            <a:ext cx="140618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実行中の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コンテナ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16FDC0-2496-6E97-7163-29B38F8171BB}"/>
              </a:ext>
            </a:extLst>
          </p:cNvPr>
          <p:cNvSpPr txBox="1"/>
          <p:nvPr/>
        </p:nvSpPr>
        <p:spPr>
          <a:xfrm>
            <a:off x="4646428" y="22187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・・・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8F737C4-000F-2F66-985F-23E397BA3F09}"/>
              </a:ext>
            </a:extLst>
          </p:cNvPr>
          <p:cNvSpPr/>
          <p:nvPr/>
        </p:nvSpPr>
        <p:spPr>
          <a:xfrm>
            <a:off x="1715707" y="1988285"/>
            <a:ext cx="5241600" cy="15373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99EC92F-2306-37A6-6EBC-E7D9C576E5AF}"/>
              </a:ext>
            </a:extLst>
          </p:cNvPr>
          <p:cNvSpPr txBox="1"/>
          <p:nvPr/>
        </p:nvSpPr>
        <p:spPr>
          <a:xfrm>
            <a:off x="1751679" y="739896"/>
            <a:ext cx="895741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そもそも</a:t>
            </a:r>
            <a:r>
              <a:rPr lang="en-US" altLang="ja-JP" dirty="0"/>
              <a:t>d</a:t>
            </a:r>
            <a:r>
              <a:rPr kumimoji="1" lang="en-US" altLang="ja-JP" dirty="0"/>
              <a:t>ocker</a:t>
            </a:r>
            <a:r>
              <a:rPr lang="ja-JP" altLang="en-US" dirty="0"/>
              <a:t>コンテナは</a:t>
            </a:r>
            <a:r>
              <a:rPr lang="en-US" altLang="ja-JP" dirty="0"/>
              <a:t>Linux</a:t>
            </a:r>
            <a:r>
              <a:rPr lang="ja-JP" altLang="en-US" dirty="0"/>
              <a:t>環境にしか対応していないと言って差し支えありません。</a:t>
            </a:r>
            <a:r>
              <a:rPr lang="en-US" altLang="ja-JP" dirty="0"/>
              <a:t>Windows</a:t>
            </a:r>
            <a:r>
              <a:rPr lang="ja-JP" altLang="en-US" dirty="0"/>
              <a:t>や</a:t>
            </a:r>
            <a:r>
              <a:rPr lang="en-US" altLang="ja-JP" dirty="0"/>
              <a:t>macOS</a:t>
            </a:r>
            <a:r>
              <a:rPr lang="ja-JP" altLang="en-US" dirty="0"/>
              <a:t>で利用する場合には仮想化技術を用いて</a:t>
            </a:r>
            <a:r>
              <a:rPr lang="en-US" altLang="ja-JP" dirty="0"/>
              <a:t>Linux</a:t>
            </a:r>
            <a:r>
              <a:rPr lang="ja-JP" altLang="en-US" dirty="0"/>
              <a:t>環境を構築し、その上で</a:t>
            </a:r>
            <a:r>
              <a:rPr lang="en-US" altLang="ja-JP" dirty="0"/>
              <a:t>docker</a:t>
            </a:r>
            <a:r>
              <a:rPr lang="ja-JP" altLang="en-US" dirty="0"/>
              <a:t>コンテナを実行することになります。</a:t>
            </a:r>
            <a:endParaRPr lang="en-US" altLang="ja-JP" dirty="0"/>
          </a:p>
          <a:p>
            <a:r>
              <a:rPr kumimoji="1" lang="ja-JP" altLang="en-US" sz="1200" dirty="0"/>
              <a:t>*</a:t>
            </a:r>
            <a:r>
              <a:rPr lang="en-US" altLang="ja-JP" sz="1200" dirty="0"/>
              <a:t> Windows</a:t>
            </a:r>
            <a:r>
              <a:rPr lang="ja-JP" altLang="en-US" sz="1200" dirty="0"/>
              <a:t>イメージのコンテナもあるにはあるがかなりレア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0AD6D5-D877-80DF-9C71-F3DC41034E62}"/>
              </a:ext>
            </a:extLst>
          </p:cNvPr>
          <p:cNvSpPr txBox="1"/>
          <p:nvPr/>
        </p:nvSpPr>
        <p:spPr>
          <a:xfrm>
            <a:off x="1715679" y="4847949"/>
            <a:ext cx="9086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※</a:t>
            </a:r>
            <a:r>
              <a:rPr lang="ja-JP" altLang="en-US" sz="1400" dirty="0"/>
              <a:t>赤枠内は</a:t>
            </a:r>
            <a:r>
              <a:rPr lang="en-US" altLang="ja-JP" sz="1400" dirty="0"/>
              <a:t>macOS</a:t>
            </a:r>
            <a:r>
              <a:rPr lang="ja-JP" altLang="en-US" sz="1400" dirty="0"/>
              <a:t>環境でも</a:t>
            </a:r>
            <a:r>
              <a:rPr lang="en-US" altLang="ja-JP" sz="1400" dirty="0"/>
              <a:t>Linux</a:t>
            </a:r>
            <a:r>
              <a:rPr lang="ja-JP" altLang="en-US" sz="1400" dirty="0"/>
              <a:t>環境でも共通。</a:t>
            </a:r>
            <a:r>
              <a:rPr lang="en-US" altLang="ja-JP" sz="1400" dirty="0"/>
              <a:t>MacOS</a:t>
            </a:r>
            <a:r>
              <a:rPr lang="ja-JP" altLang="en-US" sz="1400" dirty="0"/>
              <a:t>の場合、</a:t>
            </a:r>
            <a:r>
              <a:rPr lang="en-US" altLang="ja-JP" sz="1400" dirty="0"/>
              <a:t>Linux</a:t>
            </a:r>
            <a:r>
              <a:rPr lang="ja-JP" altLang="en-US" sz="1400" dirty="0"/>
              <a:t>を実行させるための仮想化技術として、</a:t>
            </a:r>
            <a:r>
              <a:rPr lang="en-US" altLang="ja-JP" sz="1400" dirty="0"/>
              <a:t>WSL2</a:t>
            </a:r>
            <a:r>
              <a:rPr lang="ja-JP" altLang="en-US" sz="1400" dirty="0"/>
              <a:t>の代わりに</a:t>
            </a:r>
            <a:r>
              <a:rPr lang="en-US" altLang="ja-JP" sz="1400" dirty="0"/>
              <a:t>Apple Virtualization Framework(</a:t>
            </a:r>
            <a:r>
              <a:rPr lang="ja-JP" altLang="en-US" sz="1400" dirty="0"/>
              <a:t>または</a:t>
            </a:r>
            <a:r>
              <a:rPr lang="en-US" altLang="ja-JP" sz="1400" dirty="0" err="1"/>
              <a:t>HyperKit</a:t>
            </a:r>
            <a:r>
              <a:rPr lang="en-US" altLang="ja-JP" sz="1400" dirty="0"/>
              <a:t>)</a:t>
            </a:r>
            <a:r>
              <a:rPr lang="ja-JP" altLang="en-US" sz="1400" dirty="0"/>
              <a:t>が使用される。</a:t>
            </a:r>
            <a:r>
              <a:rPr lang="en-US" altLang="ja-JP" sz="1400" dirty="0"/>
              <a:t>Linux</a:t>
            </a:r>
            <a:r>
              <a:rPr lang="ja-JP" altLang="en-US" sz="1400" dirty="0"/>
              <a:t>環境であれば</a:t>
            </a:r>
            <a:r>
              <a:rPr lang="en-US" altLang="ja-JP" sz="1400" dirty="0"/>
              <a:t>WSL2</a:t>
            </a:r>
            <a:r>
              <a:rPr lang="ja-JP" altLang="en-US" sz="1400" dirty="0"/>
              <a:t>や</a:t>
            </a:r>
            <a:r>
              <a:rPr lang="en-US" altLang="ja-JP" sz="1400" dirty="0"/>
              <a:t>Apple</a:t>
            </a:r>
            <a:r>
              <a:rPr lang="ja-JP" altLang="en-US" sz="1400" dirty="0"/>
              <a:t> </a:t>
            </a:r>
            <a:r>
              <a:rPr lang="en-US" altLang="ja-JP" sz="1400" dirty="0"/>
              <a:t>Virtualization Framework</a:t>
            </a:r>
            <a:r>
              <a:rPr lang="ja-JP" altLang="en-US" sz="1400" dirty="0"/>
              <a:t>などの仮想マシンは不要でシンプルな構成となる。</a:t>
            </a:r>
          </a:p>
        </p:txBody>
      </p:sp>
    </p:spTree>
    <p:extLst>
      <p:ext uri="{BB962C8B-B14F-4D97-AF65-F5344CB8AC3E}">
        <p14:creationId xmlns:p14="http://schemas.microsoft.com/office/powerpoint/2010/main" val="281841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3DCE774-2786-FCB0-AB94-B7F94078DBA0}"/>
              </a:ext>
            </a:extLst>
          </p:cNvPr>
          <p:cNvSpPr/>
          <p:nvPr/>
        </p:nvSpPr>
        <p:spPr>
          <a:xfrm>
            <a:off x="2159794" y="921384"/>
            <a:ext cx="2761818" cy="1786208"/>
          </a:xfrm>
          <a:prstGeom prst="roundRect">
            <a:avLst>
              <a:gd name="adj" fmla="val 203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/>
              <a:t>実行中のコンテナ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8D4B6AA-C59E-F5FD-CEC7-58F0B49E1EC4}"/>
              </a:ext>
            </a:extLst>
          </p:cNvPr>
          <p:cNvSpPr/>
          <p:nvPr/>
        </p:nvSpPr>
        <p:spPr>
          <a:xfrm>
            <a:off x="2336008" y="1969513"/>
            <a:ext cx="2381248" cy="634491"/>
          </a:xfrm>
          <a:prstGeom prst="roundRect">
            <a:avLst>
              <a:gd name="adj" fmla="val 1116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コンテナ上</a:t>
            </a:r>
            <a:r>
              <a:rPr lang="en-US" altLang="ja-JP" sz="1400" dirty="0"/>
              <a:t>Linux</a:t>
            </a:r>
            <a:r>
              <a:rPr lang="ja-JP" altLang="en-US" sz="1400" dirty="0"/>
              <a:t>の</a:t>
            </a:r>
            <a:endParaRPr lang="en-US" altLang="ja-JP" dirty="0"/>
          </a:p>
          <a:p>
            <a:pPr algn="ctr"/>
            <a:r>
              <a:rPr lang="en-US" altLang="ja-JP" dirty="0"/>
              <a:t>s</a:t>
            </a:r>
            <a:r>
              <a:rPr kumimoji="1" lang="en-US" altLang="ja-JP" dirty="0"/>
              <a:t>hell</a:t>
            </a:r>
            <a:r>
              <a:rPr kumimoji="1" lang="ja-JP" altLang="en-US" dirty="0"/>
              <a:t>やライブラリ等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EE415CF-BE85-A843-C176-DBEA61CC341F}"/>
              </a:ext>
            </a:extLst>
          </p:cNvPr>
          <p:cNvSpPr/>
          <p:nvPr/>
        </p:nvSpPr>
        <p:spPr>
          <a:xfrm>
            <a:off x="2159793" y="2731404"/>
            <a:ext cx="5523637" cy="700086"/>
          </a:xfrm>
          <a:prstGeom prst="roundRect">
            <a:avLst>
              <a:gd name="adj" fmla="val 411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/>
              <a:t>Docker Daemon(</a:t>
            </a:r>
            <a:r>
              <a:rPr kumimoji="1" lang="en-US" altLang="ja-JP" dirty="0" err="1"/>
              <a:t>dockerd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5CDBAFE-B73A-1DE7-1A5E-9246B5C39C03}"/>
              </a:ext>
            </a:extLst>
          </p:cNvPr>
          <p:cNvSpPr/>
          <p:nvPr/>
        </p:nvSpPr>
        <p:spPr>
          <a:xfrm>
            <a:off x="2159793" y="3431490"/>
            <a:ext cx="7961427" cy="3452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WSL2</a:t>
            </a:r>
            <a:r>
              <a:rPr lang="ja-JP" altLang="en-US" dirty="0"/>
              <a:t>提供の</a:t>
            </a:r>
            <a:r>
              <a:rPr lang="en-US" altLang="ja-JP" dirty="0"/>
              <a:t>Linux</a:t>
            </a:r>
            <a:r>
              <a:rPr lang="ja-JP" altLang="en-US" dirty="0"/>
              <a:t> </a:t>
            </a:r>
            <a:r>
              <a:rPr lang="en-US" altLang="ja-JP" dirty="0"/>
              <a:t>k</a:t>
            </a:r>
            <a:r>
              <a:rPr kumimoji="1" lang="en-US" altLang="ja-JP" dirty="0"/>
              <a:t>ernel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8FF1583-BA61-EEF3-59E6-9ED3EE846816}"/>
              </a:ext>
            </a:extLst>
          </p:cNvPr>
          <p:cNvSpPr/>
          <p:nvPr/>
        </p:nvSpPr>
        <p:spPr>
          <a:xfrm>
            <a:off x="7803681" y="2724260"/>
            <a:ext cx="2317539" cy="707229"/>
          </a:xfrm>
          <a:prstGeom prst="roundRect">
            <a:avLst>
              <a:gd name="adj" fmla="val 2849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WSL2</a:t>
            </a:r>
            <a:r>
              <a:rPr kumimoji="1" lang="ja-JP" altLang="en-US" sz="1400" dirty="0"/>
              <a:t>上</a:t>
            </a:r>
            <a:r>
              <a:rPr kumimoji="1" lang="en-US" altLang="ja-JP" sz="1400" dirty="0"/>
              <a:t>Linux</a:t>
            </a:r>
            <a:r>
              <a:rPr kumimoji="1" lang="ja-JP" altLang="en-US" sz="1400" dirty="0"/>
              <a:t>の</a:t>
            </a:r>
            <a:endParaRPr kumimoji="1" lang="en-US" altLang="ja-JP" sz="1400" dirty="0"/>
          </a:p>
          <a:p>
            <a:pPr algn="ctr"/>
            <a:r>
              <a:rPr kumimoji="1" lang="en-US" altLang="ja-JP" dirty="0"/>
              <a:t>shell</a:t>
            </a:r>
            <a:r>
              <a:rPr kumimoji="1" lang="ja-JP" altLang="en-US" dirty="0"/>
              <a:t>やライブラリ等</a:t>
            </a:r>
          </a:p>
        </p:txBody>
      </p:sp>
      <p:sp>
        <p:nvSpPr>
          <p:cNvPr id="8" name="矢印: 上下 7">
            <a:extLst>
              <a:ext uri="{FF2B5EF4-FFF2-40B4-BE49-F238E27FC236}">
                <a16:creationId xmlns:a16="http://schemas.microsoft.com/office/drawing/2014/main" id="{A59FB244-7E1C-B15D-38AE-61BB37D7C466}"/>
              </a:ext>
            </a:extLst>
          </p:cNvPr>
          <p:cNvSpPr/>
          <p:nvPr/>
        </p:nvSpPr>
        <p:spPr>
          <a:xfrm>
            <a:off x="4511614" y="3315344"/>
            <a:ext cx="195263" cy="240507"/>
          </a:xfrm>
          <a:prstGeom prst="upDownArrow">
            <a:avLst>
              <a:gd name="adj1" fmla="val 59757"/>
              <a:gd name="adj2" fmla="val 33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上下 8">
            <a:extLst>
              <a:ext uri="{FF2B5EF4-FFF2-40B4-BE49-F238E27FC236}">
                <a16:creationId xmlns:a16="http://schemas.microsoft.com/office/drawing/2014/main" id="{A1D1652A-0F4D-45AF-0E03-81D1FDC62021}"/>
              </a:ext>
            </a:extLst>
          </p:cNvPr>
          <p:cNvSpPr/>
          <p:nvPr/>
        </p:nvSpPr>
        <p:spPr>
          <a:xfrm rot="16200000">
            <a:off x="7645924" y="2961194"/>
            <a:ext cx="195263" cy="240507"/>
          </a:xfrm>
          <a:prstGeom prst="upDownArrow">
            <a:avLst>
              <a:gd name="adj1" fmla="val 59757"/>
              <a:gd name="adj2" fmla="val 33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上下 9">
            <a:extLst>
              <a:ext uri="{FF2B5EF4-FFF2-40B4-BE49-F238E27FC236}">
                <a16:creationId xmlns:a16="http://schemas.microsoft.com/office/drawing/2014/main" id="{A0251D51-C949-0FF4-C94D-8EE3F2479B85}"/>
              </a:ext>
            </a:extLst>
          </p:cNvPr>
          <p:cNvSpPr/>
          <p:nvPr/>
        </p:nvSpPr>
        <p:spPr>
          <a:xfrm>
            <a:off x="3355397" y="2602817"/>
            <a:ext cx="195263" cy="240507"/>
          </a:xfrm>
          <a:prstGeom prst="upDownArrow">
            <a:avLst>
              <a:gd name="adj1" fmla="val 59757"/>
              <a:gd name="adj2" fmla="val 33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A427A7B-36E9-B133-29A9-7DEF2D5FA84A}"/>
              </a:ext>
            </a:extLst>
          </p:cNvPr>
          <p:cNvSpPr/>
          <p:nvPr/>
        </p:nvSpPr>
        <p:spPr>
          <a:xfrm>
            <a:off x="2336008" y="1402991"/>
            <a:ext cx="2381249" cy="558188"/>
          </a:xfrm>
          <a:prstGeom prst="roundRect">
            <a:avLst>
              <a:gd name="adj" fmla="val 1046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アプリケーション・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ミドルウェアなど</a:t>
            </a:r>
          </a:p>
        </p:txBody>
      </p:sp>
      <p:sp>
        <p:nvSpPr>
          <p:cNvPr id="34" name="矢印: 上下 33">
            <a:extLst>
              <a:ext uri="{FF2B5EF4-FFF2-40B4-BE49-F238E27FC236}">
                <a16:creationId xmlns:a16="http://schemas.microsoft.com/office/drawing/2014/main" id="{D5E99663-AD4B-75D6-CB30-3E72941E0D3A}"/>
              </a:ext>
            </a:extLst>
          </p:cNvPr>
          <p:cNvSpPr/>
          <p:nvPr/>
        </p:nvSpPr>
        <p:spPr>
          <a:xfrm>
            <a:off x="8880386" y="3316984"/>
            <a:ext cx="195263" cy="240507"/>
          </a:xfrm>
          <a:prstGeom prst="upDownArrow">
            <a:avLst>
              <a:gd name="adj1" fmla="val 59757"/>
              <a:gd name="adj2" fmla="val 33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234AFBCE-D798-965B-61BB-A24926F3D303}"/>
              </a:ext>
            </a:extLst>
          </p:cNvPr>
          <p:cNvSpPr/>
          <p:nvPr/>
        </p:nvSpPr>
        <p:spPr>
          <a:xfrm>
            <a:off x="4931569" y="921384"/>
            <a:ext cx="2761818" cy="1786208"/>
          </a:xfrm>
          <a:prstGeom prst="roundRect">
            <a:avLst>
              <a:gd name="adj" fmla="val 203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/>
              <a:t>実行中のコンテナ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16ED8C1-05EA-B4BC-BBDD-6924FAC02113}"/>
              </a:ext>
            </a:extLst>
          </p:cNvPr>
          <p:cNvSpPr/>
          <p:nvPr/>
        </p:nvSpPr>
        <p:spPr>
          <a:xfrm>
            <a:off x="5107783" y="1969513"/>
            <a:ext cx="2381248" cy="634491"/>
          </a:xfrm>
          <a:prstGeom prst="roundRect">
            <a:avLst>
              <a:gd name="adj" fmla="val 11166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コンテナ上</a:t>
            </a:r>
            <a:r>
              <a:rPr lang="en-US" altLang="ja-JP" sz="1400" dirty="0"/>
              <a:t>Linux</a:t>
            </a:r>
            <a:r>
              <a:rPr lang="ja-JP" altLang="en-US" sz="1400" dirty="0"/>
              <a:t>の</a:t>
            </a:r>
            <a:endParaRPr lang="en-US" altLang="ja-JP" sz="2800" dirty="0"/>
          </a:p>
          <a:p>
            <a:pPr algn="ctr"/>
            <a:r>
              <a:rPr lang="en-US" altLang="ja-JP" dirty="0"/>
              <a:t>s</a:t>
            </a:r>
            <a:r>
              <a:rPr kumimoji="1" lang="en-US" altLang="ja-JP" dirty="0"/>
              <a:t>hell</a:t>
            </a:r>
            <a:r>
              <a:rPr kumimoji="1" lang="ja-JP" altLang="en-US" dirty="0"/>
              <a:t>やライブラリ等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6DCEC64-E68B-A2AD-32F3-58A61BDD8773}"/>
              </a:ext>
            </a:extLst>
          </p:cNvPr>
          <p:cNvSpPr/>
          <p:nvPr/>
        </p:nvSpPr>
        <p:spPr>
          <a:xfrm>
            <a:off x="5107783" y="1402991"/>
            <a:ext cx="2381249" cy="558188"/>
          </a:xfrm>
          <a:prstGeom prst="roundRect">
            <a:avLst>
              <a:gd name="adj" fmla="val 1046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アプリケーション・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ミドルウェアなど</a:t>
            </a:r>
          </a:p>
        </p:txBody>
      </p:sp>
      <p:sp>
        <p:nvSpPr>
          <p:cNvPr id="16" name="矢印: 上下 15">
            <a:extLst>
              <a:ext uri="{FF2B5EF4-FFF2-40B4-BE49-F238E27FC236}">
                <a16:creationId xmlns:a16="http://schemas.microsoft.com/office/drawing/2014/main" id="{A6A88FBB-F25B-C62C-C121-5079BB3FD4B4}"/>
              </a:ext>
            </a:extLst>
          </p:cNvPr>
          <p:cNvSpPr/>
          <p:nvPr/>
        </p:nvSpPr>
        <p:spPr>
          <a:xfrm>
            <a:off x="6117215" y="2602817"/>
            <a:ext cx="195263" cy="240507"/>
          </a:xfrm>
          <a:prstGeom prst="upDownArrow">
            <a:avLst>
              <a:gd name="adj1" fmla="val 59757"/>
              <a:gd name="adj2" fmla="val 335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2F5B748-BEA6-3110-745E-91F3CE1769FE}"/>
              </a:ext>
            </a:extLst>
          </p:cNvPr>
          <p:cNvSpPr txBox="1"/>
          <p:nvPr/>
        </p:nvSpPr>
        <p:spPr>
          <a:xfrm>
            <a:off x="2070780" y="3808262"/>
            <a:ext cx="89864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/>
              <a:t>WSL2</a:t>
            </a:r>
            <a:r>
              <a:rPr lang="ja-JP" altLang="en-US" sz="1100" b="1" dirty="0"/>
              <a:t>におけるカーネルの利用について</a:t>
            </a:r>
            <a:endParaRPr lang="ja-JP" altLang="en-US" sz="1100" dirty="0"/>
          </a:p>
          <a:p>
            <a:r>
              <a:rPr lang="en-US" altLang="ja-JP" sz="1100" dirty="0"/>
              <a:t>WSL2</a:t>
            </a:r>
            <a:r>
              <a:rPr lang="ja-JP" altLang="en-US" sz="1100" dirty="0"/>
              <a:t>では、インストールした</a:t>
            </a:r>
            <a:r>
              <a:rPr lang="en-US" altLang="ja-JP" sz="1100" dirty="0"/>
              <a:t>Linux</a:t>
            </a:r>
            <a:r>
              <a:rPr lang="ja-JP" altLang="en-US" sz="1100" dirty="0"/>
              <a:t>ディストリビューションや、</a:t>
            </a:r>
            <a:r>
              <a:rPr lang="en-US" altLang="ja-JP" sz="1100" dirty="0"/>
              <a:t>WSL2</a:t>
            </a:r>
            <a:r>
              <a:rPr lang="ja-JP" altLang="en-US" sz="1100" dirty="0"/>
              <a:t>上で動作する</a:t>
            </a:r>
            <a:r>
              <a:rPr lang="en-US" altLang="ja-JP" sz="1100" dirty="0"/>
              <a:t>Linux</a:t>
            </a:r>
            <a:r>
              <a:rPr lang="ja-JP" altLang="en-US" sz="1100" dirty="0"/>
              <a:t>コンテナのカーネルは、いずれも</a:t>
            </a:r>
            <a:r>
              <a:rPr lang="en-US" altLang="ja-JP" sz="1100" dirty="0"/>
              <a:t>WSL2</a:t>
            </a:r>
            <a:r>
              <a:rPr lang="ja-JP" altLang="en-US" sz="1100" dirty="0"/>
              <a:t>が提供する共通の</a:t>
            </a:r>
            <a:r>
              <a:rPr lang="en-US" altLang="ja-JP" sz="1100" dirty="0"/>
              <a:t>Linux</a:t>
            </a:r>
            <a:r>
              <a:rPr lang="ja-JP" altLang="en-US" sz="1100" dirty="0"/>
              <a:t>カーネルを使用します。</a:t>
            </a:r>
            <a:br>
              <a:rPr lang="ja-JP" altLang="en-US" sz="1100" dirty="0"/>
            </a:br>
            <a:r>
              <a:rPr lang="ja-JP" altLang="en-US" sz="1100" dirty="0"/>
              <a:t>そのため、各ディストリビューションが本来備えているカーネルバージョンとは異なるバージョンが利用されることになります。</a:t>
            </a:r>
          </a:p>
          <a:p>
            <a:r>
              <a:rPr lang="ja-JP" altLang="en-US" sz="1100" b="1" dirty="0"/>
              <a:t>具体例</a:t>
            </a:r>
            <a:endParaRPr lang="ja-JP" altLang="en-US" sz="1100" dirty="0"/>
          </a:p>
          <a:p>
            <a:r>
              <a:rPr lang="ja-JP" altLang="en-US" sz="1100" dirty="0"/>
              <a:t>コンテナの</a:t>
            </a:r>
            <a:r>
              <a:rPr lang="en-US" altLang="ja-JP" sz="1100" dirty="0"/>
              <a:t>Linux</a:t>
            </a:r>
            <a:r>
              <a:rPr lang="ja-JP" altLang="en-US" sz="1100" dirty="0"/>
              <a:t>が</a:t>
            </a:r>
            <a:r>
              <a:rPr lang="en-US" altLang="ja-JP" sz="1100" dirty="0"/>
              <a:t>Ubuntu 24.04</a:t>
            </a:r>
            <a:r>
              <a:rPr lang="ja-JP" altLang="en-US" sz="1100" dirty="0"/>
              <a:t>で、</a:t>
            </a:r>
            <a:r>
              <a:rPr lang="en-US" altLang="ja-JP" sz="1100" dirty="0"/>
              <a:t>WSL2</a:t>
            </a:r>
            <a:r>
              <a:rPr lang="ja-JP" altLang="en-US" sz="1100" dirty="0"/>
              <a:t>にインストールしたディストリビューションが</a:t>
            </a:r>
            <a:r>
              <a:rPr lang="en-US" altLang="ja-JP" sz="1100" dirty="0"/>
              <a:t>Fedora 43</a:t>
            </a:r>
            <a:r>
              <a:rPr lang="ja-JP" altLang="en-US" sz="1100" dirty="0"/>
              <a:t>の場合、</a:t>
            </a:r>
            <a:r>
              <a:rPr lang="en-US" altLang="ja-JP" sz="1100" dirty="0"/>
              <a:t>WSL2</a:t>
            </a:r>
            <a:r>
              <a:rPr lang="ja-JP" altLang="en-US" sz="1100" dirty="0"/>
              <a:t>のカーネルが</a:t>
            </a:r>
            <a:r>
              <a:rPr lang="en-US" altLang="ja-JP" sz="1100" dirty="0"/>
              <a:t>6.6</a:t>
            </a:r>
            <a:r>
              <a:rPr lang="ja-JP" altLang="en-US" sz="1100" dirty="0"/>
              <a:t>であれば、両方ともこの</a:t>
            </a:r>
            <a:r>
              <a:rPr lang="en-US" altLang="ja-JP" sz="1100" dirty="0"/>
              <a:t>6.6</a:t>
            </a:r>
            <a:r>
              <a:rPr lang="ja-JP" altLang="en-US" sz="1100" dirty="0"/>
              <a:t>カーネルを使用します。</a:t>
            </a:r>
          </a:p>
          <a:p>
            <a:r>
              <a:rPr lang="ja-JP" altLang="en-US" sz="1100" dirty="0"/>
              <a:t>本来、</a:t>
            </a:r>
            <a:r>
              <a:rPr lang="en-US" altLang="ja-JP" sz="1100" dirty="0"/>
              <a:t>Fedora 43</a:t>
            </a:r>
            <a:r>
              <a:rPr lang="ja-JP" altLang="en-US" sz="1100" dirty="0"/>
              <a:t>の標準カーネルは</a:t>
            </a:r>
            <a:r>
              <a:rPr lang="en-US" altLang="ja-JP" sz="1100" dirty="0"/>
              <a:t>6.17</a:t>
            </a:r>
            <a:r>
              <a:rPr lang="ja-JP" altLang="en-US" sz="1100" dirty="0"/>
              <a:t>系、</a:t>
            </a:r>
            <a:r>
              <a:rPr lang="en-US" altLang="ja-JP" sz="1100" dirty="0"/>
              <a:t>Ubuntu 24.04</a:t>
            </a:r>
            <a:r>
              <a:rPr lang="ja-JP" altLang="en-US" sz="1100" dirty="0"/>
              <a:t>の標準カーネルは</a:t>
            </a:r>
            <a:r>
              <a:rPr lang="en-US" altLang="ja-JP" sz="1100" dirty="0"/>
              <a:t>6.8</a:t>
            </a:r>
            <a:r>
              <a:rPr lang="ja-JP" altLang="en-US" sz="1100" dirty="0"/>
              <a:t>系ですが、</a:t>
            </a:r>
            <a:r>
              <a:rPr lang="en-US" altLang="ja-JP" sz="1100" dirty="0"/>
              <a:t>WSL2</a:t>
            </a:r>
            <a:r>
              <a:rPr lang="ja-JP" altLang="en-US" sz="1100" dirty="0"/>
              <a:t>上ではどちらも</a:t>
            </a:r>
            <a:r>
              <a:rPr lang="en-US" altLang="ja-JP" sz="1100" dirty="0"/>
              <a:t>WSL2</a:t>
            </a:r>
            <a:r>
              <a:rPr lang="ja-JP" altLang="en-US" sz="1100" dirty="0"/>
              <a:t>のカーネル（例：</a:t>
            </a:r>
            <a:r>
              <a:rPr lang="en-US" altLang="ja-JP" sz="1100" dirty="0"/>
              <a:t>6.6</a:t>
            </a:r>
            <a:r>
              <a:rPr lang="ja-JP" altLang="en-US" sz="1100" dirty="0"/>
              <a:t>）で動作します。</a:t>
            </a:r>
          </a:p>
          <a:p>
            <a:r>
              <a:rPr lang="ja-JP" altLang="en-US" sz="1100" b="1" dirty="0"/>
              <a:t>補足事項</a:t>
            </a:r>
            <a:endParaRPr lang="ja-JP" altLang="en-US" sz="1100" dirty="0"/>
          </a:p>
          <a:p>
            <a:r>
              <a:rPr lang="en-US" altLang="ja-JP" sz="1100" dirty="0"/>
              <a:t>WSL2</a:t>
            </a:r>
            <a:r>
              <a:rPr lang="ja-JP" altLang="en-US" sz="1100" dirty="0"/>
              <a:t>のカーネルは</a:t>
            </a:r>
            <a:r>
              <a:rPr lang="en-US" altLang="ja-JP" sz="1100" dirty="0"/>
              <a:t>Microsoft</a:t>
            </a:r>
            <a:r>
              <a:rPr lang="ja-JP" altLang="en-US" sz="1100" dirty="0"/>
              <a:t>が提供するもので、</a:t>
            </a:r>
            <a:r>
              <a:rPr lang="en-US" altLang="ja-JP" sz="1100" dirty="0"/>
              <a:t>Windows Update</a:t>
            </a:r>
            <a:r>
              <a:rPr lang="ja-JP" altLang="en-US" sz="1100" dirty="0"/>
              <a:t>または</a:t>
            </a:r>
            <a:r>
              <a:rPr lang="en-US" altLang="ja-JP" sz="1400" dirty="0" err="1"/>
              <a:t>wsl</a:t>
            </a:r>
            <a:r>
              <a:rPr lang="en-US" altLang="ja-JP" sz="1400" dirty="0"/>
              <a:t> --update</a:t>
            </a:r>
            <a:r>
              <a:rPr lang="ja-JP" altLang="en-US" sz="1100" dirty="0"/>
              <a:t>コマンドで更新されます。</a:t>
            </a:r>
          </a:p>
          <a:p>
            <a:r>
              <a:rPr lang="en-US" altLang="ja-JP" sz="1100" dirty="0"/>
              <a:t>WSL2</a:t>
            </a:r>
            <a:r>
              <a:rPr lang="ja-JP" altLang="en-US" sz="1100" dirty="0"/>
              <a:t>のカーネルは</a:t>
            </a:r>
            <a:r>
              <a:rPr lang="en-US" altLang="ja-JP" sz="1100" dirty="0"/>
              <a:t>Microsoft</a:t>
            </a:r>
            <a:r>
              <a:rPr lang="ja-JP" altLang="en-US" sz="1100" dirty="0"/>
              <a:t>の</a:t>
            </a:r>
            <a:r>
              <a:rPr lang="en-US" altLang="ja-JP" sz="1100" dirty="0"/>
              <a:t>GitHub</a:t>
            </a:r>
            <a:r>
              <a:rPr lang="ja-JP" altLang="en-US" sz="1100" dirty="0"/>
              <a:t>リポジトリで公開されており、カスタムカーネルを利用することも可能ですが、</a:t>
            </a:r>
            <a:r>
              <a:rPr lang="en-US" altLang="ja-JP" sz="1100" dirty="0"/>
              <a:t>Docker</a:t>
            </a:r>
            <a:r>
              <a:rPr lang="ja-JP" altLang="en-US" sz="1100" dirty="0"/>
              <a:t>など一部の機能では公式カーネルの利用が推奨されています。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738613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.2 type2242｜22mm × 42mm">
            <a:extLst>
              <a:ext uri="{FF2B5EF4-FFF2-40B4-BE49-F238E27FC236}">
                <a16:creationId xmlns:a16="http://schemas.microsoft.com/office/drawing/2014/main" id="{A73E2843-AF4F-6CF3-ACC4-5FBC937A7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83" t="32359" r="28898" b="35570"/>
          <a:stretch>
            <a:fillRect/>
          </a:stretch>
        </p:blipFill>
        <p:spPr bwMode="auto">
          <a:xfrm>
            <a:off x="280865" y="1267440"/>
            <a:ext cx="5383879" cy="275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4381C9F-5801-D98F-955D-9C0279B820E7}"/>
              </a:ext>
            </a:extLst>
          </p:cNvPr>
          <p:cNvSpPr/>
          <p:nvPr/>
        </p:nvSpPr>
        <p:spPr>
          <a:xfrm>
            <a:off x="901275" y="1390995"/>
            <a:ext cx="3093209" cy="252377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36B2B3A-61B3-54ED-8123-C674029721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2000"/>
          </a:blip>
          <a:srcRect l="4248" t="29437" r="3886" b="13278"/>
          <a:stretch>
            <a:fillRect/>
          </a:stretch>
        </p:blipFill>
        <p:spPr>
          <a:xfrm>
            <a:off x="6527257" y="1240201"/>
            <a:ext cx="4463713" cy="2783444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7E06743-9ADB-1DF0-D918-90256E8925FE}"/>
              </a:ext>
            </a:extLst>
          </p:cNvPr>
          <p:cNvSpPr/>
          <p:nvPr/>
        </p:nvSpPr>
        <p:spPr>
          <a:xfrm>
            <a:off x="1133155" y="1648154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停止中のコンテナ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4234AE-7A4F-E9C9-3C78-270EA6CCF86F}"/>
              </a:ext>
            </a:extLst>
          </p:cNvPr>
          <p:cNvSpPr txBox="1"/>
          <p:nvPr/>
        </p:nvSpPr>
        <p:spPr>
          <a:xfrm>
            <a:off x="280865" y="908313"/>
            <a:ext cx="2175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外部記憶</a:t>
            </a:r>
            <a:r>
              <a:rPr lang="en-US" altLang="ja-JP" sz="1600" b="1" dirty="0"/>
              <a:t>(SSD/HDD)</a:t>
            </a:r>
            <a:endParaRPr kumimoji="1" lang="ja-JP" altLang="en-US" sz="16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954F1CC-A24A-BE40-4D9F-5BF3E4E7926C}"/>
              </a:ext>
            </a:extLst>
          </p:cNvPr>
          <p:cNvSpPr/>
          <p:nvPr/>
        </p:nvSpPr>
        <p:spPr>
          <a:xfrm>
            <a:off x="1133155" y="2987723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イメージ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8047297-8C0A-9F08-285A-4EE1185E5A19}"/>
              </a:ext>
            </a:extLst>
          </p:cNvPr>
          <p:cNvSpPr/>
          <p:nvPr/>
        </p:nvSpPr>
        <p:spPr>
          <a:xfrm>
            <a:off x="7466680" y="1760328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実行中のコンテナ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CB16EB2-4B3D-AA99-6D2B-9B1D08D1BFC7}"/>
              </a:ext>
            </a:extLst>
          </p:cNvPr>
          <p:cNvCxnSpPr>
            <a:cxnSpLocks/>
          </p:cNvCxnSpPr>
          <p:nvPr/>
        </p:nvCxnSpPr>
        <p:spPr>
          <a:xfrm flipV="1">
            <a:off x="3784780" y="2177158"/>
            <a:ext cx="3499793" cy="10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F253C0-1E8A-B8E9-26E6-A0DCEC325D8E}"/>
              </a:ext>
            </a:extLst>
          </p:cNvPr>
          <p:cNvSpPr txBox="1"/>
          <p:nvPr/>
        </p:nvSpPr>
        <p:spPr>
          <a:xfrm rot="20597551">
            <a:off x="4644730" y="2492364"/>
            <a:ext cx="131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run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F0C5C31-720B-0093-D6AC-F800D6FCF7BA}"/>
              </a:ext>
            </a:extLst>
          </p:cNvPr>
          <p:cNvCxnSpPr>
            <a:cxnSpLocks/>
          </p:cNvCxnSpPr>
          <p:nvPr/>
        </p:nvCxnSpPr>
        <p:spPr>
          <a:xfrm>
            <a:off x="3817831" y="1887208"/>
            <a:ext cx="3466742" cy="13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DB6B60-693C-CE99-523E-8871ADB80C84}"/>
              </a:ext>
            </a:extLst>
          </p:cNvPr>
          <p:cNvSpPr txBox="1"/>
          <p:nvPr/>
        </p:nvSpPr>
        <p:spPr>
          <a:xfrm>
            <a:off x="4735265" y="1575662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start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6279228-2FF6-D795-9F94-1048F33821E1}"/>
              </a:ext>
            </a:extLst>
          </p:cNvPr>
          <p:cNvCxnSpPr>
            <a:cxnSpLocks/>
          </p:cNvCxnSpPr>
          <p:nvPr/>
        </p:nvCxnSpPr>
        <p:spPr>
          <a:xfrm flipH="1">
            <a:off x="3817831" y="2026079"/>
            <a:ext cx="3466742" cy="13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E3108EF-911A-0388-F057-25FDE8A90F57}"/>
              </a:ext>
            </a:extLst>
          </p:cNvPr>
          <p:cNvSpPr txBox="1"/>
          <p:nvPr/>
        </p:nvSpPr>
        <p:spPr>
          <a:xfrm>
            <a:off x="4746236" y="1967060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stop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9AB5DF0-3CF6-CD6C-9760-676D44227519}"/>
              </a:ext>
            </a:extLst>
          </p:cNvPr>
          <p:cNvCxnSpPr>
            <a:cxnSpLocks/>
          </p:cNvCxnSpPr>
          <p:nvPr/>
        </p:nvCxnSpPr>
        <p:spPr>
          <a:xfrm flipH="1">
            <a:off x="3784780" y="2338536"/>
            <a:ext cx="3499793" cy="10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ABA445-8C8D-82EA-234B-A5ED299E9A3A}"/>
              </a:ext>
            </a:extLst>
          </p:cNvPr>
          <p:cNvSpPr txBox="1"/>
          <p:nvPr/>
        </p:nvSpPr>
        <p:spPr>
          <a:xfrm rot="20597551">
            <a:off x="4638863" y="2827251"/>
            <a:ext cx="179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commit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E23DE6A-6747-2650-5F93-EAB42F017FD7}"/>
              </a:ext>
            </a:extLst>
          </p:cNvPr>
          <p:cNvSpPr txBox="1"/>
          <p:nvPr/>
        </p:nvSpPr>
        <p:spPr>
          <a:xfrm>
            <a:off x="996432" y="1390996"/>
            <a:ext cx="296742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C:\Users\&lt;</a:t>
            </a: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&gt;\</a:t>
            </a:r>
            <a:r>
              <a:rPr lang="en-US" altLang="ja-JP" sz="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AppData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\Local\Docker\</a:t>
            </a:r>
            <a:r>
              <a:rPr lang="en-US" altLang="ja-JP" sz="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wsl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\data\ext4.vhdx</a:t>
            </a:r>
            <a:endParaRPr lang="ja-JP" altLang="en-US" sz="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B235441-7624-044F-5FE2-9AB46D64F93B}"/>
              </a:ext>
            </a:extLst>
          </p:cNvPr>
          <p:cNvSpPr txBox="1"/>
          <p:nvPr/>
        </p:nvSpPr>
        <p:spPr>
          <a:xfrm>
            <a:off x="579549" y="4178429"/>
            <a:ext cx="4373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lang="en-US" altLang="ja-JP" sz="1400" dirty="0"/>
              <a:t>commit</a:t>
            </a:r>
            <a:r>
              <a:rPr lang="ja-JP" altLang="en-US" sz="1400" dirty="0"/>
              <a:t>直後のイメージを</a:t>
            </a:r>
            <a:r>
              <a:rPr lang="en-US" altLang="ja-JP" sz="1400" dirty="0"/>
              <a:t>docker run</a:t>
            </a:r>
            <a:r>
              <a:rPr lang="ja-JP" altLang="en-US" sz="1400" dirty="0"/>
              <a:t>したものと、</a:t>
            </a:r>
            <a:endParaRPr lang="en-US" altLang="ja-JP" sz="1400" dirty="0"/>
          </a:p>
          <a:p>
            <a:r>
              <a:rPr kumimoji="1" lang="ja-JP" altLang="en-US" sz="1400" dirty="0"/>
              <a:t>　その実行中の</a:t>
            </a:r>
            <a:r>
              <a:rPr lang="ja-JP" altLang="en-US" sz="1400" dirty="0"/>
              <a:t>コンテナを</a:t>
            </a:r>
            <a:r>
              <a:rPr lang="en-US" altLang="ja-JP" sz="1400" dirty="0"/>
              <a:t>stop</a:t>
            </a:r>
            <a:r>
              <a:rPr lang="ja-JP" altLang="en-US" sz="1400" dirty="0"/>
              <a:t>し</a:t>
            </a:r>
            <a:r>
              <a:rPr lang="en-US" altLang="ja-JP" sz="1400" dirty="0"/>
              <a:t>start</a:t>
            </a:r>
            <a:r>
              <a:rPr lang="ja-JP" altLang="en-US" sz="1400" dirty="0"/>
              <a:t>したものは</a:t>
            </a:r>
            <a:endParaRPr lang="en-US" altLang="ja-JP" sz="1400" dirty="0"/>
          </a:p>
          <a:p>
            <a:r>
              <a:rPr kumimoji="1" lang="ja-JP" altLang="en-US" sz="1400" dirty="0"/>
              <a:t>　概ね同一のものと考えてよい。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4CCC13-48D1-5651-1AE6-0E7D53B4932D}"/>
              </a:ext>
            </a:extLst>
          </p:cNvPr>
          <p:cNvSpPr txBox="1"/>
          <p:nvPr/>
        </p:nvSpPr>
        <p:spPr>
          <a:xfrm>
            <a:off x="6527257" y="90831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メインメモリ</a:t>
            </a:r>
          </a:p>
        </p:txBody>
      </p:sp>
    </p:spTree>
    <p:extLst>
      <p:ext uri="{BB962C8B-B14F-4D97-AF65-F5344CB8AC3E}">
        <p14:creationId xmlns:p14="http://schemas.microsoft.com/office/powerpoint/2010/main" val="134541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.2 type2242｜22mm × 42mm">
            <a:extLst>
              <a:ext uri="{FF2B5EF4-FFF2-40B4-BE49-F238E27FC236}">
                <a16:creationId xmlns:a16="http://schemas.microsoft.com/office/drawing/2014/main" id="{A73E2843-AF4F-6CF3-ACC4-5FBC937A7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83" t="32359" r="28898" b="35570"/>
          <a:stretch>
            <a:fillRect/>
          </a:stretch>
        </p:blipFill>
        <p:spPr bwMode="auto">
          <a:xfrm>
            <a:off x="280865" y="1267440"/>
            <a:ext cx="5383879" cy="275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4381C9F-5801-D98F-955D-9C0279B820E7}"/>
              </a:ext>
            </a:extLst>
          </p:cNvPr>
          <p:cNvSpPr/>
          <p:nvPr/>
        </p:nvSpPr>
        <p:spPr>
          <a:xfrm>
            <a:off x="901275" y="1390995"/>
            <a:ext cx="3093209" cy="252377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36B2B3A-61B3-54ED-8123-C674029721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2000"/>
          </a:blip>
          <a:srcRect l="4248" t="29437" r="3886" b="13278"/>
          <a:stretch>
            <a:fillRect/>
          </a:stretch>
        </p:blipFill>
        <p:spPr>
          <a:xfrm>
            <a:off x="6527257" y="1240201"/>
            <a:ext cx="4463713" cy="2783444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7E06743-9ADB-1DF0-D918-90256E8925FE}"/>
              </a:ext>
            </a:extLst>
          </p:cNvPr>
          <p:cNvSpPr/>
          <p:nvPr/>
        </p:nvSpPr>
        <p:spPr>
          <a:xfrm>
            <a:off x="1133155" y="1648154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停止中のコンテナ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4234AE-7A4F-E9C9-3C78-270EA6CCF86F}"/>
              </a:ext>
            </a:extLst>
          </p:cNvPr>
          <p:cNvSpPr txBox="1"/>
          <p:nvPr/>
        </p:nvSpPr>
        <p:spPr>
          <a:xfrm>
            <a:off x="280865" y="908313"/>
            <a:ext cx="2175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外部記憶</a:t>
            </a:r>
            <a:r>
              <a:rPr lang="en-US" altLang="ja-JP" sz="1600" b="1" dirty="0"/>
              <a:t>(SSD/HDD)</a:t>
            </a:r>
            <a:endParaRPr kumimoji="1" lang="ja-JP" altLang="en-US" sz="1600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954F1CC-A24A-BE40-4D9F-5BF3E4E7926C}"/>
              </a:ext>
            </a:extLst>
          </p:cNvPr>
          <p:cNvSpPr/>
          <p:nvPr/>
        </p:nvSpPr>
        <p:spPr>
          <a:xfrm>
            <a:off x="1133155" y="2987723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イメージ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8047297-8C0A-9F08-285A-4EE1185E5A19}"/>
              </a:ext>
            </a:extLst>
          </p:cNvPr>
          <p:cNvSpPr/>
          <p:nvPr/>
        </p:nvSpPr>
        <p:spPr>
          <a:xfrm>
            <a:off x="7466680" y="1760328"/>
            <a:ext cx="2537569" cy="706582"/>
          </a:xfrm>
          <a:prstGeom prst="roundRect">
            <a:avLst>
              <a:gd name="adj" fmla="val 73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実行中のコンテナ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CB16EB2-4B3D-AA99-6D2B-9B1D08D1BFC7}"/>
              </a:ext>
            </a:extLst>
          </p:cNvPr>
          <p:cNvCxnSpPr>
            <a:cxnSpLocks/>
          </p:cNvCxnSpPr>
          <p:nvPr/>
        </p:nvCxnSpPr>
        <p:spPr>
          <a:xfrm flipV="1">
            <a:off x="3784780" y="2177158"/>
            <a:ext cx="3499793" cy="10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1F253C0-1E8A-B8E9-26E6-A0DCEC325D8E}"/>
              </a:ext>
            </a:extLst>
          </p:cNvPr>
          <p:cNvSpPr txBox="1"/>
          <p:nvPr/>
        </p:nvSpPr>
        <p:spPr>
          <a:xfrm rot="20597551">
            <a:off x="4644730" y="2492364"/>
            <a:ext cx="131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run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F0C5C31-720B-0093-D6AC-F800D6FCF7BA}"/>
              </a:ext>
            </a:extLst>
          </p:cNvPr>
          <p:cNvCxnSpPr>
            <a:cxnSpLocks/>
          </p:cNvCxnSpPr>
          <p:nvPr/>
        </p:nvCxnSpPr>
        <p:spPr>
          <a:xfrm>
            <a:off x="3817831" y="1887208"/>
            <a:ext cx="3466742" cy="13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DB6B60-693C-CE99-523E-8871ADB80C84}"/>
              </a:ext>
            </a:extLst>
          </p:cNvPr>
          <p:cNvSpPr txBox="1"/>
          <p:nvPr/>
        </p:nvSpPr>
        <p:spPr>
          <a:xfrm>
            <a:off x="4735265" y="1575662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start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6279228-2FF6-D795-9F94-1048F33821E1}"/>
              </a:ext>
            </a:extLst>
          </p:cNvPr>
          <p:cNvCxnSpPr>
            <a:cxnSpLocks/>
          </p:cNvCxnSpPr>
          <p:nvPr/>
        </p:nvCxnSpPr>
        <p:spPr>
          <a:xfrm flipH="1">
            <a:off x="3817831" y="2026079"/>
            <a:ext cx="3466742" cy="13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E3108EF-911A-0388-F057-25FDE8A90F57}"/>
              </a:ext>
            </a:extLst>
          </p:cNvPr>
          <p:cNvSpPr txBox="1"/>
          <p:nvPr/>
        </p:nvSpPr>
        <p:spPr>
          <a:xfrm>
            <a:off x="4746236" y="1967060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stop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9AB5DF0-3CF6-CD6C-9760-676D44227519}"/>
              </a:ext>
            </a:extLst>
          </p:cNvPr>
          <p:cNvCxnSpPr>
            <a:cxnSpLocks/>
          </p:cNvCxnSpPr>
          <p:nvPr/>
        </p:nvCxnSpPr>
        <p:spPr>
          <a:xfrm flipH="1">
            <a:off x="3784780" y="2338536"/>
            <a:ext cx="3499793" cy="105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EABA445-8C8D-82EA-234B-A5ED299E9A3A}"/>
              </a:ext>
            </a:extLst>
          </p:cNvPr>
          <p:cNvSpPr txBox="1"/>
          <p:nvPr/>
        </p:nvSpPr>
        <p:spPr>
          <a:xfrm rot="20597551">
            <a:off x="4638863" y="2827251"/>
            <a:ext cx="179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1"/>
                </a:solidFill>
              </a:rPr>
              <a:t>d</a:t>
            </a:r>
            <a:r>
              <a:rPr kumimoji="1" lang="en-US" altLang="ja-JP" dirty="0">
                <a:solidFill>
                  <a:schemeClr val="accent1"/>
                </a:solidFill>
              </a:rPr>
              <a:t>ocker commit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E23DE6A-6747-2650-5F93-EAB42F017FD7}"/>
              </a:ext>
            </a:extLst>
          </p:cNvPr>
          <p:cNvSpPr txBox="1"/>
          <p:nvPr/>
        </p:nvSpPr>
        <p:spPr>
          <a:xfrm>
            <a:off x="996432" y="1390996"/>
            <a:ext cx="296742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C:\Users\&lt;</a:t>
            </a:r>
            <a:r>
              <a:rPr lang="ja-JP" altLang="en-US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ユーザー名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&gt;\</a:t>
            </a:r>
            <a:r>
              <a:rPr lang="en-US" altLang="ja-JP" sz="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AppData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\Local\Docker\</a:t>
            </a:r>
            <a:r>
              <a:rPr lang="en-US" altLang="ja-JP" sz="6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wsl</a:t>
            </a:r>
            <a:r>
              <a:rPr lang="en-US" altLang="ja-JP" sz="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\data\ext4.vhdx</a:t>
            </a:r>
            <a:endParaRPr lang="ja-JP" altLang="en-US" sz="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4CCC13-48D1-5651-1AE6-0E7D53B4932D}"/>
              </a:ext>
            </a:extLst>
          </p:cNvPr>
          <p:cNvSpPr txBox="1"/>
          <p:nvPr/>
        </p:nvSpPr>
        <p:spPr>
          <a:xfrm>
            <a:off x="6527257" y="90831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メインメモリ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B3C54F3-9EAE-1E9D-25DB-319830037E53}"/>
              </a:ext>
            </a:extLst>
          </p:cNvPr>
          <p:cNvSpPr/>
          <p:nvPr/>
        </p:nvSpPr>
        <p:spPr>
          <a:xfrm>
            <a:off x="996432" y="1575662"/>
            <a:ext cx="9147693" cy="106601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DE680B-C44D-C64C-B4F9-67A7114DECB9}"/>
              </a:ext>
            </a:extLst>
          </p:cNvPr>
          <p:cNvSpPr txBox="1"/>
          <p:nvPr/>
        </p:nvSpPr>
        <p:spPr>
          <a:xfrm>
            <a:off x="4794475" y="1230503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d</a:t>
            </a:r>
            <a:r>
              <a:rPr kumimoji="1" lang="en-US" altLang="ja-JP" dirty="0">
                <a:solidFill>
                  <a:schemeClr val="accent2"/>
                </a:solidFill>
              </a:rPr>
              <a:t>ocker </a:t>
            </a:r>
            <a:r>
              <a:rPr kumimoji="1" lang="en-US" altLang="ja-JP" dirty="0" err="1">
                <a:solidFill>
                  <a:schemeClr val="accent2"/>
                </a:solidFill>
              </a:rPr>
              <a:t>ps</a:t>
            </a:r>
            <a:r>
              <a:rPr kumimoji="1" lang="ja-JP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ja-JP" dirty="0">
                <a:solidFill>
                  <a:schemeClr val="accent2"/>
                </a:solidFill>
              </a:rPr>
              <a:t>-a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3979E6-8CCB-5DFF-C5E3-D6453C7673B7}"/>
              </a:ext>
            </a:extLst>
          </p:cNvPr>
          <p:cNvSpPr txBox="1"/>
          <p:nvPr/>
        </p:nvSpPr>
        <p:spPr>
          <a:xfrm>
            <a:off x="1497810" y="2658935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d</a:t>
            </a:r>
            <a:r>
              <a:rPr kumimoji="1" lang="en-US" altLang="ja-JP" dirty="0">
                <a:solidFill>
                  <a:schemeClr val="accent2"/>
                </a:solidFill>
              </a:rPr>
              <a:t>ocker images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844C3A-94DF-1DF8-BC93-877832DF7BBB}"/>
              </a:ext>
            </a:extLst>
          </p:cNvPr>
          <p:cNvSpPr txBox="1"/>
          <p:nvPr/>
        </p:nvSpPr>
        <p:spPr>
          <a:xfrm>
            <a:off x="1133155" y="418502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2"/>
                </a:solidFill>
              </a:rPr>
              <a:t>一覧を確認するコマンド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5F46E1-5DBE-5DA3-5BFB-621273F53532}"/>
              </a:ext>
            </a:extLst>
          </p:cNvPr>
          <p:cNvSpPr txBox="1"/>
          <p:nvPr/>
        </p:nvSpPr>
        <p:spPr>
          <a:xfrm>
            <a:off x="1133155" y="448922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6"/>
                </a:solidFill>
              </a:rPr>
              <a:t>削除するコマンド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C44A68-F881-77C0-BD8D-011A356981AD}"/>
              </a:ext>
            </a:extLst>
          </p:cNvPr>
          <p:cNvSpPr txBox="1"/>
          <p:nvPr/>
        </p:nvSpPr>
        <p:spPr>
          <a:xfrm>
            <a:off x="1706200" y="3630438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docker</a:t>
            </a:r>
            <a:r>
              <a:rPr lang="ja-JP" altLang="en-US" dirty="0">
                <a:solidFill>
                  <a:schemeClr val="accent6"/>
                </a:solidFill>
              </a:rPr>
              <a:t> </a:t>
            </a:r>
            <a:r>
              <a:rPr lang="en-US" altLang="ja-JP" dirty="0" err="1">
                <a:solidFill>
                  <a:schemeClr val="accent6"/>
                </a:solidFill>
              </a:rPr>
              <a:t>rmi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3B66D7A-88CB-B05A-BCCB-69D219FB78A0}"/>
              </a:ext>
            </a:extLst>
          </p:cNvPr>
          <p:cNvSpPr txBox="1"/>
          <p:nvPr/>
        </p:nvSpPr>
        <p:spPr>
          <a:xfrm>
            <a:off x="1688842" y="2298398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docker</a:t>
            </a:r>
            <a:r>
              <a:rPr lang="ja-JP" altLang="en-US" dirty="0">
                <a:solidFill>
                  <a:schemeClr val="accent6"/>
                </a:solidFill>
              </a:rPr>
              <a:t> </a:t>
            </a:r>
            <a:r>
              <a:rPr lang="en-US" altLang="ja-JP" dirty="0">
                <a:solidFill>
                  <a:schemeClr val="accent6"/>
                </a:solidFill>
              </a:rPr>
              <a:t>rm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01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2721</TotalTime>
  <Words>578</Words>
  <Application>Microsoft Office PowerPoint</Application>
  <PresentationFormat>ワイド画面</PresentationFormat>
  <Paragraphs>68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泰裕 中野</dc:creator>
  <cp:lastModifiedBy>泰裕 中野</cp:lastModifiedBy>
  <cp:revision>9</cp:revision>
  <dcterms:created xsi:type="dcterms:W3CDTF">2025-10-29T03:02:32Z</dcterms:created>
  <dcterms:modified xsi:type="dcterms:W3CDTF">2025-11-17T23:54:16Z</dcterms:modified>
</cp:coreProperties>
</file>